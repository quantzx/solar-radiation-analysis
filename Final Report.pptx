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7999" y="2201600"/>
            <a:ext cx="6264275" cy="223520"/>
          </a:xfrm>
          <a:custGeom>
            <a:avLst/>
            <a:gdLst/>
            <a:ahLst/>
            <a:cxnLst/>
            <a:rect l="l" t="t" r="r" b="b"/>
            <a:pathLst>
              <a:path w="6264275" h="223519">
                <a:moveTo>
                  <a:pt x="6263999" y="0"/>
                </a:moveTo>
                <a:lnTo>
                  <a:pt x="0" y="0"/>
                </a:lnTo>
                <a:lnTo>
                  <a:pt x="0" y="223520"/>
                </a:lnTo>
                <a:lnTo>
                  <a:pt x="6263999" y="223520"/>
                </a:lnTo>
                <a:lnTo>
                  <a:pt x="6263999" y="0"/>
                </a:lnTo>
                <a:close/>
              </a:path>
            </a:pathLst>
          </a:custGeom>
          <a:solidFill>
            <a:srgbClr val="2D8A5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35299" y="490088"/>
            <a:ext cx="6276975" cy="190309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Three</a:t>
            </a:r>
            <a:r>
              <a:rPr dirty="0" sz="2100" spc="-1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reports,</a:t>
            </a:r>
            <a:r>
              <a:rPr dirty="0" sz="2100" spc="-1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one</a:t>
            </a:r>
            <a:r>
              <a:rPr dirty="0" sz="2100" spc="-1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quick</a:t>
            </a:r>
            <a:r>
              <a:rPr dirty="0" sz="2100" spc="-1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spc="-20" b="1">
                <a:solidFill>
                  <a:srgbClr val="1C6B42"/>
                </a:solidFill>
                <a:latin typeface="Calibri"/>
                <a:cs typeface="Calibri"/>
              </a:rPr>
              <a:t>read</a:t>
            </a:r>
            <a:endParaRPr sz="2100">
              <a:latin typeface="Calibri"/>
              <a:cs typeface="Calibri"/>
            </a:endParaRPr>
          </a:p>
          <a:p>
            <a:pPr marL="12700" marR="30480">
              <a:lnSpc>
                <a:spcPct val="113300"/>
              </a:lnSpc>
              <a:spcBef>
                <a:spcPts val="140"/>
              </a:spcBef>
            </a:pP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Here's</a:t>
            </a:r>
            <a:r>
              <a:rPr dirty="0" sz="1000" spc="40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the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short</a:t>
            </a:r>
            <a:r>
              <a:rPr dirty="0" sz="1000" spc="40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version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of</a:t>
            </a:r>
            <a:r>
              <a:rPr dirty="0" sz="1000" spc="40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what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your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team</a:t>
            </a:r>
            <a:r>
              <a:rPr dirty="0" sz="1000" spc="40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did: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the</a:t>
            </a:r>
            <a:r>
              <a:rPr dirty="0" sz="1000" spc="40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solar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data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dive,</a:t>
            </a:r>
            <a:r>
              <a:rPr dirty="0" sz="1000" spc="40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the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Mustafar</a:t>
            </a:r>
            <a:r>
              <a:rPr dirty="0" sz="1000" spc="40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rocket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flights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and</a:t>
            </a:r>
            <a:r>
              <a:rPr dirty="0" sz="1000" spc="40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the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asteroid-</a:t>
            </a:r>
            <a:r>
              <a:rPr dirty="0" sz="1000" spc="-10" i="1">
                <a:solidFill>
                  <a:srgbClr val="5E6B64"/>
                </a:solidFill>
                <a:latin typeface="Calibri"/>
                <a:cs typeface="Calibri"/>
              </a:rPr>
              <a:t>mining pitch.</a:t>
            </a:r>
            <a:endParaRPr sz="1000">
              <a:latin typeface="Calibri"/>
              <a:cs typeface="Calibri"/>
            </a:endParaRPr>
          </a:p>
          <a:p>
            <a:pPr marL="12700" marR="76835">
              <a:lnSpc>
                <a:spcPct val="113300"/>
              </a:lnSpc>
              <a:spcBef>
                <a:spcPts val="600"/>
              </a:spcBef>
            </a:pP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At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first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glance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these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three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projects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have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nothing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do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with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each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other.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Look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little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closer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there's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common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thread: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sunlight,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gravity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distance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set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rules,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good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engineering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mostly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means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working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with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them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instead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A2A2A"/>
                </a:solidFill>
                <a:latin typeface="Calibri"/>
                <a:cs typeface="Calibri"/>
              </a:rPr>
              <a:t>of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 fighting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them.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Here's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what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each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report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set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out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do,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what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it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turned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A2A2A"/>
                </a:solidFill>
                <a:latin typeface="Calibri"/>
                <a:cs typeface="Calibri"/>
              </a:rPr>
              <a:t>up.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The</a:t>
            </a:r>
            <a:r>
              <a:rPr dirty="0" sz="1250" spc="-1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three</a:t>
            </a:r>
            <a:r>
              <a:rPr dirty="0" sz="1250" spc="-1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at</a:t>
            </a:r>
            <a:r>
              <a:rPr dirty="0" sz="1250" spc="-1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a</a:t>
            </a:r>
            <a:r>
              <a:rPr dirty="0" sz="1250" spc="-10" b="1">
                <a:solidFill>
                  <a:srgbClr val="1C6B42"/>
                </a:solidFill>
                <a:latin typeface="Calibri"/>
                <a:cs typeface="Calibri"/>
              </a:rPr>
              <a:t> glance</a:t>
            </a:r>
            <a:endParaRPr sz="1250">
              <a:latin typeface="Calibri"/>
              <a:cs typeface="Calibri"/>
            </a:endParaRPr>
          </a:p>
          <a:p>
            <a:pPr marL="76200">
              <a:lnSpc>
                <a:spcPct val="100000"/>
              </a:lnSpc>
              <a:spcBef>
                <a:spcPts val="620"/>
              </a:spcBef>
              <a:tabLst>
                <a:tab pos="1266190" algn="l"/>
                <a:tab pos="2832100" algn="l"/>
                <a:tab pos="4585970" algn="l"/>
              </a:tabLst>
            </a:pP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Report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	The</a:t>
            </a:r>
            <a:r>
              <a:rPr dirty="0" sz="90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big</a:t>
            </a:r>
            <a:r>
              <a:rPr dirty="0" sz="900" spc="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question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	How</a:t>
            </a:r>
            <a:r>
              <a:rPr dirty="0" sz="900" spc="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900" spc="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0" b="1">
                <a:solidFill>
                  <a:srgbClr val="FFFFFF"/>
                </a:solidFill>
                <a:latin typeface="Calibri"/>
                <a:cs typeface="Calibri"/>
              </a:rPr>
              <a:t>digs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	What</a:t>
            </a:r>
            <a:r>
              <a:rPr dirty="0" sz="900" spc="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came</a:t>
            </a:r>
            <a:r>
              <a:rPr dirty="0" sz="900" spc="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5" b="1">
                <a:solidFill>
                  <a:srgbClr val="FFFFFF"/>
                </a:solidFill>
                <a:latin typeface="Calibri"/>
                <a:cs typeface="Calibri"/>
              </a:rPr>
              <a:t>out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7999" y="2425120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 h="0">
                <a:moveTo>
                  <a:pt x="0" y="0"/>
                </a:moveTo>
                <a:lnTo>
                  <a:pt x="6263999" y="0"/>
                </a:lnTo>
              </a:path>
            </a:pathLst>
          </a:custGeom>
          <a:ln w="5080">
            <a:solidFill>
              <a:srgbClr val="CFE6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98799" y="2443407"/>
            <a:ext cx="857885" cy="320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95"/>
              </a:spcBef>
            </a:pPr>
            <a:r>
              <a:rPr dirty="0" sz="900" b="1">
                <a:solidFill>
                  <a:srgbClr val="2A2A2A"/>
                </a:solidFill>
                <a:latin typeface="Calibri"/>
                <a:cs typeface="Calibri"/>
              </a:rPr>
              <a:t>1.</a:t>
            </a:r>
            <a:r>
              <a:rPr dirty="0" sz="900" spc="1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2A2A2A"/>
                </a:solidFill>
                <a:latin typeface="Calibri"/>
                <a:cs typeface="Calibri"/>
              </a:rPr>
              <a:t>Solar</a:t>
            </a:r>
            <a:r>
              <a:rPr dirty="0" sz="900" spc="2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2A2A2A"/>
                </a:solidFill>
                <a:latin typeface="Calibri"/>
                <a:cs typeface="Calibri"/>
              </a:rPr>
              <a:t>radiation</a:t>
            </a:r>
            <a:r>
              <a:rPr dirty="0" sz="900" spc="50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2A2A2A"/>
                </a:solidFill>
                <a:latin typeface="Calibri"/>
                <a:cs typeface="Calibri"/>
              </a:rPr>
              <a:t>analysis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8960" y="2443407"/>
            <a:ext cx="1425575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7400"/>
              </a:lnSpc>
              <a:spcBef>
                <a:spcPts val="95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What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really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drives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sunlight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2A2A2A"/>
                </a:solidFill>
                <a:latin typeface="Calibri"/>
                <a:cs typeface="Calibri"/>
              </a:rPr>
              <a:t>at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ground</a:t>
            </a:r>
            <a:r>
              <a:rPr dirty="0" sz="900" spc="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level,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when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is</a:t>
            </a:r>
            <a:r>
              <a:rPr dirty="0" sz="900" spc="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best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time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catch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2A2A2A"/>
                </a:solidFill>
                <a:latin typeface="Calibri"/>
                <a:cs typeface="Calibri"/>
              </a:rPr>
              <a:t>it?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54960" y="2443407"/>
            <a:ext cx="1643380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7400"/>
              </a:lnSpc>
              <a:spcBef>
                <a:spcPts val="95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Correlations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Random</a:t>
            </a:r>
            <a:r>
              <a:rPr dirty="0" sz="9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Forest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model</a:t>
            </a:r>
            <a:r>
              <a:rPr dirty="0" sz="900" spc="5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on</a:t>
            </a:r>
            <a:r>
              <a:rPr dirty="0" sz="900" spc="6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32,686</a:t>
            </a:r>
            <a:r>
              <a:rPr dirty="0" sz="900" spc="5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weather-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station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readings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(Sep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Dec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2016)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83479" y="2443407"/>
            <a:ext cx="1703705" cy="614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 marR="30480">
              <a:lnSpc>
                <a:spcPct val="107400"/>
              </a:lnSpc>
              <a:spcBef>
                <a:spcPts val="95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Sunlight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peaks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around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noon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2A2A2A"/>
                </a:solidFill>
                <a:latin typeface="Calibri"/>
                <a:cs typeface="Calibri"/>
              </a:rPr>
              <a:t>at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roughly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727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W/m</a:t>
            </a:r>
            <a:r>
              <a:rPr dirty="0" baseline="35714" sz="1050">
                <a:solidFill>
                  <a:srgbClr val="2A2A2A"/>
                </a:solidFill>
                <a:latin typeface="Calibri"/>
                <a:cs typeface="Calibri"/>
              </a:rPr>
              <a:t>2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,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model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explains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93%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of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ups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downs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(R</a:t>
            </a:r>
            <a:r>
              <a:rPr dirty="0" baseline="35714" sz="1050">
                <a:solidFill>
                  <a:srgbClr val="2A2A2A"/>
                </a:solidFill>
                <a:latin typeface="Calibri"/>
                <a:cs typeface="Calibri"/>
              </a:rPr>
              <a:t>2</a:t>
            </a:r>
            <a:r>
              <a:rPr dirty="0" baseline="35714" sz="1050" spc="112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=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0.9304)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999" y="3090600"/>
            <a:ext cx="6264275" cy="518159"/>
          </a:xfrm>
          <a:custGeom>
            <a:avLst/>
            <a:gdLst/>
            <a:ahLst/>
            <a:cxnLst/>
            <a:rect l="l" t="t" r="r" b="b"/>
            <a:pathLst>
              <a:path w="6264275" h="518160">
                <a:moveTo>
                  <a:pt x="6263999" y="0"/>
                </a:moveTo>
                <a:lnTo>
                  <a:pt x="0" y="0"/>
                </a:lnTo>
                <a:lnTo>
                  <a:pt x="0" y="518160"/>
                </a:lnTo>
                <a:lnTo>
                  <a:pt x="6263999" y="518160"/>
                </a:lnTo>
                <a:lnTo>
                  <a:pt x="6263999" y="0"/>
                </a:lnTo>
                <a:close/>
              </a:path>
            </a:pathLst>
          </a:custGeom>
          <a:solidFill>
            <a:srgbClr val="F6FB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98799" y="3108888"/>
            <a:ext cx="923290" cy="320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95"/>
              </a:spcBef>
            </a:pPr>
            <a:r>
              <a:rPr dirty="0" sz="900" b="1">
                <a:solidFill>
                  <a:srgbClr val="2A2A2A"/>
                </a:solidFill>
                <a:latin typeface="Calibri"/>
                <a:cs typeface="Calibri"/>
              </a:rPr>
              <a:t>2.</a:t>
            </a:r>
            <a:r>
              <a:rPr dirty="0" sz="900" spc="2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2A2A2A"/>
                </a:solidFill>
                <a:latin typeface="Calibri"/>
                <a:cs typeface="Calibri"/>
              </a:rPr>
              <a:t>Mustafar</a:t>
            </a:r>
            <a:r>
              <a:rPr dirty="0" sz="9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2A2A2A"/>
                </a:solidFill>
                <a:latin typeface="Calibri"/>
                <a:cs typeface="Calibri"/>
              </a:rPr>
              <a:t>rocket</a:t>
            </a:r>
            <a:r>
              <a:rPr dirty="0" sz="900" spc="50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2A2A2A"/>
                </a:solidFill>
                <a:latin typeface="Calibri"/>
                <a:cs typeface="Calibri"/>
              </a:rPr>
              <a:t>report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88960" y="3108888"/>
            <a:ext cx="1431925" cy="320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95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How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does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same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rocket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2A2A2A"/>
                </a:solidFill>
                <a:latin typeface="Calibri"/>
                <a:cs typeface="Calibri"/>
              </a:rPr>
              <a:t>fly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on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Earth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versus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on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Mustafar?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54960" y="3108888"/>
            <a:ext cx="1605915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95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Two</a:t>
            </a:r>
            <a:r>
              <a:rPr dirty="0" sz="900" spc="6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OpenRocket</a:t>
            </a:r>
            <a:r>
              <a:rPr dirty="0" sz="900" spc="7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6-</a:t>
            </a:r>
            <a:r>
              <a:rPr dirty="0" sz="900" spc="-25">
                <a:solidFill>
                  <a:srgbClr val="2A2A2A"/>
                </a:solidFill>
                <a:latin typeface="Calibri"/>
                <a:cs typeface="Calibri"/>
              </a:rPr>
              <a:t>DOF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simulations</a:t>
            </a:r>
            <a:r>
              <a:rPr dirty="0" sz="900" spc="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that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differ</a:t>
            </a:r>
            <a:r>
              <a:rPr dirty="0" sz="900" spc="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only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in</a:t>
            </a:r>
            <a:r>
              <a:rPr dirty="0" sz="900" spc="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environment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08879" y="3108888"/>
            <a:ext cx="1607185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95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It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climbs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about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twice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as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2A2A2A"/>
                </a:solidFill>
                <a:latin typeface="Calibri"/>
                <a:cs typeface="Calibri"/>
              </a:rPr>
              <a:t>high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(1,922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m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3,929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m)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stays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2A2A2A"/>
                </a:solidFill>
                <a:latin typeface="Calibri"/>
                <a:cs typeface="Calibri"/>
              </a:rPr>
              <a:t>in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air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48%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longer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47999" y="3090600"/>
            <a:ext cx="6264275" cy="518159"/>
          </a:xfrm>
          <a:custGeom>
            <a:avLst/>
            <a:gdLst/>
            <a:ahLst/>
            <a:cxnLst/>
            <a:rect l="l" t="t" r="r" b="b"/>
            <a:pathLst>
              <a:path w="6264275" h="518160">
                <a:moveTo>
                  <a:pt x="0" y="0"/>
                </a:moveTo>
                <a:lnTo>
                  <a:pt x="6263999" y="0"/>
                </a:lnTo>
              </a:path>
              <a:path w="6264275" h="518160">
                <a:moveTo>
                  <a:pt x="0" y="518160"/>
                </a:moveTo>
                <a:lnTo>
                  <a:pt x="6263999" y="518160"/>
                </a:lnTo>
              </a:path>
            </a:pathLst>
          </a:custGeom>
          <a:ln w="5080">
            <a:solidFill>
              <a:srgbClr val="CFE6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98799" y="3634160"/>
            <a:ext cx="711835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b="1">
                <a:solidFill>
                  <a:srgbClr val="2A2A2A"/>
                </a:solidFill>
                <a:latin typeface="Calibri"/>
                <a:cs typeface="Calibri"/>
              </a:rPr>
              <a:t>3.</a:t>
            </a:r>
            <a:r>
              <a:rPr dirty="0" sz="900" spc="2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2A2A2A"/>
                </a:solidFill>
                <a:latin typeface="Calibri"/>
                <a:cs typeface="Calibri"/>
              </a:rPr>
              <a:t>Orbital</a:t>
            </a:r>
            <a:r>
              <a:rPr dirty="0" sz="900" spc="2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20" b="1">
                <a:solidFill>
                  <a:srgbClr val="2A2A2A"/>
                </a:solidFill>
                <a:latin typeface="Calibri"/>
                <a:cs typeface="Calibri"/>
              </a:rPr>
              <a:t>Fuel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88960" y="3627048"/>
            <a:ext cx="1297940" cy="320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95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How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could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asteroid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mining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ever</a:t>
            </a:r>
            <a:r>
              <a:rPr dirty="0" sz="900" spc="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pay</a:t>
            </a:r>
            <a:r>
              <a:rPr dirty="0" sz="900" spc="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for</a:t>
            </a:r>
            <a:r>
              <a:rPr dirty="0" sz="900" spc="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itself?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54960" y="3627048"/>
            <a:ext cx="1652905" cy="320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95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900" spc="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pitch</a:t>
            </a:r>
            <a:r>
              <a:rPr dirty="0" sz="900" spc="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deck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covering</a:t>
            </a:r>
            <a:r>
              <a:rPr dirty="0" sz="900" spc="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engineering,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cost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business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08879" y="3627048"/>
            <a:ext cx="1624330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7400"/>
              </a:lnSpc>
              <a:spcBef>
                <a:spcPts val="95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Mine</a:t>
            </a:r>
            <a:r>
              <a:rPr dirty="0" sz="900" spc="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selectively,</a:t>
            </a:r>
            <a:r>
              <a:rPr dirty="0" sz="900" spc="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haul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less</a:t>
            </a:r>
            <a:r>
              <a:rPr dirty="0" sz="900" spc="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waste,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sell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water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in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space,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only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scale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up</a:t>
            </a:r>
            <a:r>
              <a:rPr dirty="0" sz="900" spc="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once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numbers</a:t>
            </a:r>
            <a:r>
              <a:rPr dirty="0" sz="900" spc="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add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2A2A2A"/>
                </a:solidFill>
                <a:latin typeface="Calibri"/>
                <a:cs typeface="Calibri"/>
              </a:rPr>
              <a:t>up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47999" y="4126920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 h="0">
                <a:moveTo>
                  <a:pt x="0" y="0"/>
                </a:moveTo>
                <a:lnTo>
                  <a:pt x="6263999" y="0"/>
                </a:lnTo>
              </a:path>
            </a:pathLst>
          </a:custGeom>
          <a:ln w="5080">
            <a:solidFill>
              <a:srgbClr val="CFE6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47999" y="6425620"/>
            <a:ext cx="6264275" cy="223520"/>
          </a:xfrm>
          <a:custGeom>
            <a:avLst/>
            <a:gdLst/>
            <a:ahLst/>
            <a:cxnLst/>
            <a:rect l="l" t="t" r="r" b="b"/>
            <a:pathLst>
              <a:path w="6264275" h="223520">
                <a:moveTo>
                  <a:pt x="6263999" y="0"/>
                </a:moveTo>
                <a:lnTo>
                  <a:pt x="0" y="0"/>
                </a:lnTo>
                <a:lnTo>
                  <a:pt x="0" y="223519"/>
                </a:lnTo>
                <a:lnTo>
                  <a:pt x="6263999" y="223519"/>
                </a:lnTo>
                <a:lnTo>
                  <a:pt x="6263999" y="0"/>
                </a:lnTo>
                <a:close/>
              </a:path>
            </a:pathLst>
          </a:custGeom>
          <a:solidFill>
            <a:srgbClr val="2D8A5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97199" y="4169129"/>
            <a:ext cx="6339840" cy="2447925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465"/>
              </a:spcBef>
            </a:pP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What</a:t>
            </a:r>
            <a:r>
              <a:rPr dirty="0" sz="1250" spc="-3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stuck</a:t>
            </a:r>
            <a:r>
              <a:rPr dirty="0" sz="1250" spc="-2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with</a:t>
            </a:r>
            <a:r>
              <a:rPr dirty="0" sz="1250" spc="-25" b="1">
                <a:solidFill>
                  <a:srgbClr val="1C6B42"/>
                </a:solidFill>
                <a:latin typeface="Calibri"/>
                <a:cs typeface="Calibri"/>
              </a:rPr>
              <a:t> me</a:t>
            </a:r>
            <a:endParaRPr sz="1250">
              <a:latin typeface="Calibri"/>
              <a:cs typeface="Calibri"/>
            </a:endParaRPr>
          </a:p>
          <a:p>
            <a:pPr marL="189230" marR="353695" indent="-125730">
              <a:lnSpc>
                <a:spcPct val="113300"/>
              </a:lnSpc>
              <a:spcBef>
                <a:spcPts val="160"/>
              </a:spcBef>
              <a:buFont typeface="Arial"/>
              <a:buChar char="•"/>
              <a:tabLst>
                <a:tab pos="190500" algn="l"/>
              </a:tabLst>
            </a:pP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Where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sun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sits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beats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everything</a:t>
            </a:r>
            <a:r>
              <a:rPr dirty="0" sz="1000" spc="3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else.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Let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model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decide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what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matters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time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of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day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takes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about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three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	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quarters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of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credit.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Humidity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is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distant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second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at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around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11%,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quietly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dimming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light.</a:t>
            </a:r>
            <a:endParaRPr sz="1000">
              <a:latin typeface="Calibri"/>
              <a:cs typeface="Calibri"/>
            </a:endParaRPr>
          </a:p>
          <a:p>
            <a:pPr marL="189230" marR="81915" indent="-125730">
              <a:lnSpc>
                <a:spcPct val="113300"/>
              </a:lnSpc>
              <a:spcBef>
                <a:spcPts val="220"/>
              </a:spcBef>
              <a:buFont typeface="Arial"/>
              <a:buChar char="•"/>
              <a:tabLst>
                <a:tab pos="190500" algn="l"/>
              </a:tabLst>
            </a:pP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Daily</a:t>
            </a:r>
            <a:r>
              <a:rPr dirty="0" sz="1000" spc="4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averages</a:t>
            </a:r>
            <a:r>
              <a:rPr dirty="0" sz="1000" spc="4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can</a:t>
            </a:r>
            <a:r>
              <a:rPr dirty="0" sz="1000" spc="4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fool</a:t>
            </a:r>
            <a:r>
              <a:rPr dirty="0" sz="1000" spc="4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you.</a:t>
            </a:r>
            <a:r>
              <a:rPr dirty="0" sz="1000" spc="4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Two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days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can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average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out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same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still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behave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nothing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alike.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broken-cloud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A2A2A"/>
                </a:solidFill>
                <a:latin typeface="Calibri"/>
                <a:cs typeface="Calibri"/>
              </a:rPr>
              <a:t>day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 	can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throw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brief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spikes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past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1,500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W/m</a:t>
            </a:r>
            <a:r>
              <a:rPr dirty="0" baseline="34722" sz="1200">
                <a:solidFill>
                  <a:srgbClr val="2A2A2A"/>
                </a:solidFill>
                <a:latin typeface="Calibri"/>
                <a:cs typeface="Calibri"/>
              </a:rPr>
              <a:t>2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,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that's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exactly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what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grid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or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inverter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has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survive.</a:t>
            </a:r>
            <a:endParaRPr sz="1000">
              <a:latin typeface="Calibri"/>
              <a:cs typeface="Calibri"/>
            </a:endParaRPr>
          </a:p>
          <a:p>
            <a:pPr marL="189230" marR="58419" indent="-125730">
              <a:lnSpc>
                <a:spcPct val="113300"/>
              </a:lnSpc>
              <a:spcBef>
                <a:spcPts val="220"/>
              </a:spcBef>
              <a:buFont typeface="Arial"/>
              <a:buChar char="•"/>
              <a:tabLst>
                <a:tab pos="190500" algn="l"/>
              </a:tabLst>
            </a:pP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Less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gravity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thinner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air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change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everything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at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once.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On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Mustafar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rocket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flies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much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higher,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but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it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also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comes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	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down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46%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faster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under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same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parachutes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wanders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about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1.7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km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further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from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launch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site.</a:t>
            </a:r>
            <a:endParaRPr sz="1000">
              <a:latin typeface="Calibri"/>
              <a:cs typeface="Calibri"/>
            </a:endParaRPr>
          </a:p>
          <a:p>
            <a:pPr algn="just" marL="189230" marR="43180" indent="-125730">
              <a:lnSpc>
                <a:spcPct val="113300"/>
              </a:lnSpc>
              <a:spcBef>
                <a:spcPts val="225"/>
              </a:spcBef>
              <a:buFont typeface="Arial"/>
              <a:buChar char="•"/>
              <a:tabLst>
                <a:tab pos="190500" algn="l"/>
              </a:tabLst>
            </a:pP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2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mining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deck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wins</a:t>
            </a:r>
            <a:r>
              <a:rPr dirty="0" sz="1000" spc="2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by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being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choosy,</a:t>
            </a:r>
            <a:r>
              <a:rPr dirty="0" sz="1000" spc="2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not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big.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Survey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before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you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dig,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process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at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asteroid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so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you're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not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hauling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	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rock,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sell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water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where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launching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it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costs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most,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only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grow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once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revenue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beats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cost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of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running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whole 	thing.</a:t>
            </a:r>
            <a:endParaRPr sz="10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940"/>
              </a:spcBef>
            </a:pP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Where</a:t>
            </a:r>
            <a:r>
              <a:rPr dirty="0" sz="1250" spc="-2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to</a:t>
            </a:r>
            <a:r>
              <a:rPr dirty="0" sz="1250" spc="-2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spc="-20" b="1">
                <a:solidFill>
                  <a:srgbClr val="1C6B42"/>
                </a:solidFill>
                <a:latin typeface="Calibri"/>
                <a:cs typeface="Calibri"/>
              </a:rPr>
              <a:t>look</a:t>
            </a:r>
            <a:endParaRPr sz="1250">
              <a:latin typeface="Calibri"/>
              <a:cs typeface="Calibri"/>
            </a:endParaRPr>
          </a:p>
          <a:p>
            <a:pPr marL="114300">
              <a:lnSpc>
                <a:spcPct val="100000"/>
              </a:lnSpc>
              <a:spcBef>
                <a:spcPts val="620"/>
              </a:spcBef>
              <a:tabLst>
                <a:tab pos="740410" algn="l"/>
              </a:tabLst>
            </a:pPr>
            <a:r>
              <a:rPr dirty="0" sz="900" spc="-20" b="1">
                <a:solidFill>
                  <a:srgbClr val="FFFFFF"/>
                </a:solidFill>
                <a:latin typeface="Calibri"/>
                <a:cs typeface="Calibri"/>
              </a:rPr>
              <a:t>Page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	What</a:t>
            </a:r>
            <a:r>
              <a:rPr dirty="0" sz="900" spc="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you'll</a:t>
            </a:r>
            <a:r>
              <a:rPr dirty="0" sz="900" spc="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0" b="1">
                <a:solidFill>
                  <a:srgbClr val="FFFFFF"/>
                </a:solidFill>
                <a:latin typeface="Calibri"/>
                <a:cs typeface="Calibri"/>
              </a:rPr>
              <a:t>find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47999" y="6649140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 h="0">
                <a:moveTo>
                  <a:pt x="0" y="0"/>
                </a:moveTo>
                <a:lnTo>
                  <a:pt x="6263999" y="0"/>
                </a:lnTo>
              </a:path>
            </a:pathLst>
          </a:custGeom>
          <a:ln w="5080">
            <a:solidFill>
              <a:srgbClr val="CFE6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98799" y="6674540"/>
            <a:ext cx="85090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spc="-50">
                <a:solidFill>
                  <a:srgbClr val="2A2A2A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25199" y="6674540"/>
            <a:ext cx="4040504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solar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story: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what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was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measured,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what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model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learned,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what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do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with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2A2A2A"/>
                </a:solidFill>
                <a:latin typeface="Calibri"/>
                <a:cs typeface="Calibri"/>
              </a:rPr>
              <a:t>it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47999" y="6872660"/>
            <a:ext cx="6264275" cy="223520"/>
          </a:xfrm>
          <a:custGeom>
            <a:avLst/>
            <a:gdLst/>
            <a:ahLst/>
            <a:cxnLst/>
            <a:rect l="l" t="t" r="r" b="b"/>
            <a:pathLst>
              <a:path w="6264275" h="223520">
                <a:moveTo>
                  <a:pt x="6263999" y="0"/>
                </a:moveTo>
                <a:lnTo>
                  <a:pt x="0" y="0"/>
                </a:lnTo>
                <a:lnTo>
                  <a:pt x="0" y="223520"/>
                </a:lnTo>
                <a:lnTo>
                  <a:pt x="6263999" y="223520"/>
                </a:lnTo>
                <a:lnTo>
                  <a:pt x="6263999" y="0"/>
                </a:lnTo>
                <a:close/>
              </a:path>
            </a:pathLst>
          </a:custGeom>
          <a:solidFill>
            <a:srgbClr val="F6FB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47999" y="7319700"/>
            <a:ext cx="6264275" cy="223520"/>
          </a:xfrm>
          <a:custGeom>
            <a:avLst/>
            <a:gdLst/>
            <a:ahLst/>
            <a:cxnLst/>
            <a:rect l="l" t="t" r="r" b="b"/>
            <a:pathLst>
              <a:path w="6264275" h="223520">
                <a:moveTo>
                  <a:pt x="6263999" y="0"/>
                </a:moveTo>
                <a:lnTo>
                  <a:pt x="0" y="0"/>
                </a:lnTo>
                <a:lnTo>
                  <a:pt x="0" y="223519"/>
                </a:lnTo>
                <a:lnTo>
                  <a:pt x="6263999" y="223519"/>
                </a:lnTo>
                <a:lnTo>
                  <a:pt x="6263999" y="0"/>
                </a:lnTo>
                <a:close/>
              </a:path>
            </a:pathLst>
          </a:custGeom>
          <a:solidFill>
            <a:srgbClr val="F6FB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47999" y="6898060"/>
            <a:ext cx="6264275" cy="6127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689610" indent="-626110">
              <a:lnSpc>
                <a:spcPct val="100000"/>
              </a:lnSpc>
              <a:spcBef>
                <a:spcPts val="120"/>
              </a:spcBef>
              <a:buAutoNum type="arabicPlain" startAt="3"/>
              <a:tabLst>
                <a:tab pos="689610" algn="l"/>
              </a:tabLst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Mustafar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flights: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setup,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full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results,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how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prediction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held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2A2A2A"/>
                </a:solidFill>
                <a:latin typeface="Calibri"/>
                <a:cs typeface="Calibri"/>
              </a:rPr>
              <a:t>up</a:t>
            </a:r>
            <a:endParaRPr sz="900">
              <a:latin typeface="Calibri"/>
              <a:cs typeface="Calibri"/>
            </a:endParaRPr>
          </a:p>
          <a:p>
            <a:pPr marL="689610" indent="-626110">
              <a:lnSpc>
                <a:spcPct val="100000"/>
              </a:lnSpc>
              <a:spcBef>
                <a:spcPts val="680"/>
              </a:spcBef>
              <a:buAutoNum type="arabicPlain" startAt="3"/>
              <a:tabLst>
                <a:tab pos="689610" algn="l"/>
              </a:tabLst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Orbital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Fuel,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part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one: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how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spacecraft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works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where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money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2A2A2A"/>
                </a:solidFill>
                <a:latin typeface="Calibri"/>
                <a:cs typeface="Calibri"/>
              </a:rPr>
              <a:t>goes</a:t>
            </a:r>
            <a:endParaRPr sz="900">
              <a:latin typeface="Calibri"/>
              <a:cs typeface="Calibri"/>
            </a:endParaRPr>
          </a:p>
          <a:p>
            <a:pPr marL="689610" indent="-626110">
              <a:lnSpc>
                <a:spcPct val="100000"/>
              </a:lnSpc>
              <a:spcBef>
                <a:spcPts val="680"/>
              </a:spcBef>
              <a:buAutoNum type="arabicPlain" startAt="3"/>
              <a:tabLst>
                <a:tab pos="689610" algn="l"/>
              </a:tabLst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Orbital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Fuel,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part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two: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who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pays,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what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could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go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wrong,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road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profit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47999" y="6872660"/>
            <a:ext cx="6264275" cy="223520"/>
          </a:xfrm>
          <a:custGeom>
            <a:avLst/>
            <a:gdLst/>
            <a:ahLst/>
            <a:cxnLst/>
            <a:rect l="l" t="t" r="r" b="b"/>
            <a:pathLst>
              <a:path w="6264275" h="223520">
                <a:moveTo>
                  <a:pt x="0" y="0"/>
                </a:moveTo>
                <a:lnTo>
                  <a:pt x="6263999" y="0"/>
                </a:lnTo>
              </a:path>
              <a:path w="6264275" h="223520">
                <a:moveTo>
                  <a:pt x="0" y="223520"/>
                </a:moveTo>
                <a:lnTo>
                  <a:pt x="6263999" y="223520"/>
                </a:lnTo>
              </a:path>
            </a:pathLst>
          </a:custGeom>
          <a:ln w="5080">
            <a:solidFill>
              <a:srgbClr val="CFE6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47999" y="7319700"/>
            <a:ext cx="6264275" cy="223520"/>
          </a:xfrm>
          <a:custGeom>
            <a:avLst/>
            <a:gdLst/>
            <a:ahLst/>
            <a:cxnLst/>
            <a:rect l="l" t="t" r="r" b="b"/>
            <a:pathLst>
              <a:path w="6264275" h="223520">
                <a:moveTo>
                  <a:pt x="0" y="0"/>
                </a:moveTo>
                <a:lnTo>
                  <a:pt x="6263999" y="0"/>
                </a:lnTo>
              </a:path>
              <a:path w="6264275" h="223520">
                <a:moveTo>
                  <a:pt x="0" y="223519"/>
                </a:moveTo>
                <a:lnTo>
                  <a:pt x="6263999" y="223519"/>
                </a:lnTo>
              </a:path>
            </a:pathLst>
          </a:custGeom>
          <a:ln w="5080">
            <a:solidFill>
              <a:srgbClr val="CFE6D8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490088"/>
            <a:ext cx="6272530" cy="168656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Solar</a:t>
            </a:r>
            <a:r>
              <a:rPr dirty="0" sz="2100" spc="-1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radiation:</a:t>
            </a:r>
            <a:r>
              <a:rPr dirty="0" sz="2100" spc="-1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when</a:t>
            </a:r>
            <a:r>
              <a:rPr dirty="0" sz="2100" spc="-1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the</a:t>
            </a:r>
            <a:r>
              <a:rPr dirty="0" sz="2100" spc="-1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sun</a:t>
            </a:r>
            <a:r>
              <a:rPr dirty="0" sz="2100" spc="-1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really</a:t>
            </a:r>
            <a:r>
              <a:rPr dirty="0" sz="2100" spc="-1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spc="-10" b="1">
                <a:solidFill>
                  <a:srgbClr val="1C6B42"/>
                </a:solidFill>
                <a:latin typeface="Calibri"/>
                <a:cs typeface="Calibri"/>
              </a:rPr>
              <a:t>delivers</a:t>
            </a:r>
            <a:endParaRPr sz="2100">
              <a:latin typeface="Calibri"/>
              <a:cs typeface="Calibri"/>
            </a:endParaRPr>
          </a:p>
          <a:p>
            <a:pPr marL="12700" marR="34925">
              <a:lnSpc>
                <a:spcPct val="113300"/>
              </a:lnSpc>
              <a:spcBef>
                <a:spcPts val="140"/>
              </a:spcBef>
            </a:pP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A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few</a:t>
            </a:r>
            <a:r>
              <a:rPr dirty="0" sz="1000" spc="50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months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of</a:t>
            </a:r>
            <a:r>
              <a:rPr dirty="0" sz="1000" spc="50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weather-station</a:t>
            </a:r>
            <a:r>
              <a:rPr dirty="0" sz="1000" spc="50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readings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(September</a:t>
            </a:r>
            <a:r>
              <a:rPr dirty="0" sz="1000" spc="50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to</a:t>
            </a:r>
            <a:r>
              <a:rPr dirty="0" sz="1000" spc="50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December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2016),</a:t>
            </a:r>
            <a:r>
              <a:rPr dirty="0" sz="1000" spc="50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and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one</a:t>
            </a:r>
            <a:r>
              <a:rPr dirty="0" sz="1000" spc="50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question:</a:t>
            </a:r>
            <a:r>
              <a:rPr dirty="0" sz="1000" spc="50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when,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and</a:t>
            </a:r>
            <a:r>
              <a:rPr dirty="0" sz="1000" spc="50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why,</a:t>
            </a:r>
            <a:r>
              <a:rPr dirty="0" sz="1000" spc="50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does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spc="-25" i="1">
                <a:solidFill>
                  <a:srgbClr val="5E6B64"/>
                </a:solidFill>
                <a:latin typeface="Calibri"/>
                <a:cs typeface="Calibri"/>
              </a:rPr>
              <a:t>the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 sun</a:t>
            </a:r>
            <a:r>
              <a:rPr dirty="0" sz="1000" spc="40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deliver</a:t>
            </a:r>
            <a:r>
              <a:rPr dirty="0" sz="1000" spc="40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5E6B64"/>
                </a:solidFill>
                <a:latin typeface="Calibri"/>
                <a:cs typeface="Calibri"/>
              </a:rPr>
              <a:t>most?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13300"/>
              </a:lnSpc>
              <a:spcBef>
                <a:spcPts val="600"/>
              </a:spcBef>
            </a:pP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Where</a:t>
            </a:r>
            <a:r>
              <a:rPr dirty="0" sz="1000" spc="3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it</a:t>
            </a:r>
            <a:r>
              <a:rPr dirty="0" sz="1000" spc="4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started.</a:t>
            </a:r>
            <a:r>
              <a:rPr dirty="0" sz="1000" spc="3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team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began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with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32,686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readings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set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aside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any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with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missing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timestamps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or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radiation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values,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so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nothing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shaky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got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into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results.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26,148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readings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were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used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train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model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6,538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held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back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test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A2A2A"/>
                </a:solidFill>
                <a:latin typeface="Calibri"/>
                <a:cs typeface="Calibri"/>
              </a:rPr>
              <a:t>it.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Temperature,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humidity,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pressure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wind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were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each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compared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against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sunlight.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Who</a:t>
            </a:r>
            <a:r>
              <a:rPr dirty="0" sz="1250" spc="-2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moves</a:t>
            </a:r>
            <a:r>
              <a:rPr dirty="0" sz="1250" spc="-1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with</a:t>
            </a:r>
            <a:r>
              <a:rPr dirty="0" sz="1250" spc="-1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the</a:t>
            </a:r>
            <a:r>
              <a:rPr dirty="0" sz="1250" spc="-2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spc="-25" b="1">
                <a:solidFill>
                  <a:srgbClr val="1C6B42"/>
                </a:solidFill>
                <a:latin typeface="Calibri"/>
                <a:cs typeface="Calibri"/>
              </a:rPr>
              <a:t>sun</a:t>
            </a:r>
            <a:endParaRPr sz="125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47999" y="2201600"/>
          <a:ext cx="6340475" cy="1340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5535"/>
                <a:gridCol w="686435"/>
                <a:gridCol w="1308734"/>
                <a:gridCol w="3162935"/>
              </a:tblGrid>
              <a:tr h="2235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Factor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2D8A56"/>
                    </a:solidFill>
                  </a:tcPr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2D8A56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Strength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2D8A56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 plain</a:t>
                      </a:r>
                      <a:r>
                        <a:rPr dirty="0" sz="900" spc="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2D8A56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Temperature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+0.735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Strong,</a:t>
                      </a:r>
                      <a:r>
                        <a:rPr dirty="0" sz="900" spc="5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positive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Rises</a:t>
                      </a:r>
                      <a:r>
                        <a:rPr dirty="0" sz="900" spc="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900" spc="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sun,</a:t>
                      </a:r>
                      <a:r>
                        <a:rPr dirty="0" sz="900" spc="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so</a:t>
                      </a:r>
                      <a:r>
                        <a:rPr dirty="0" sz="900" spc="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it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tracks</a:t>
                      </a:r>
                      <a:r>
                        <a:rPr dirty="0" sz="900" spc="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sunlight</a:t>
                      </a:r>
                      <a:r>
                        <a:rPr dirty="0" sz="900" spc="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closely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Relative</a:t>
                      </a:r>
                      <a:r>
                        <a:rPr dirty="0" sz="900" spc="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humidity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0.523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Moderate,</a:t>
                      </a:r>
                      <a:r>
                        <a:rPr dirty="0" sz="900" spc="7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negative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Moisture</a:t>
                      </a:r>
                      <a:r>
                        <a:rPr dirty="0" sz="900" spc="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900" spc="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cloud</a:t>
                      </a:r>
                      <a:r>
                        <a:rPr dirty="0" sz="900" spc="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steal</a:t>
                      </a:r>
                      <a:r>
                        <a:rPr dirty="0" sz="900" spc="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some</a:t>
                      </a:r>
                      <a:r>
                        <a:rPr dirty="0" sz="900" spc="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900" spc="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direct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light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</a:tr>
              <a:tr h="2228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Pressure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+0.314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Weak,</a:t>
                      </a:r>
                      <a:r>
                        <a:rPr dirty="0" sz="900" spc="4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positive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r>
                        <a:rPr dirty="0" sz="900" spc="3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pressure</a:t>
                      </a:r>
                      <a:r>
                        <a:rPr dirty="0" sz="900" spc="3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usually</a:t>
                      </a:r>
                      <a:r>
                        <a:rPr dirty="0" sz="900" spc="3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brings</a:t>
                      </a:r>
                      <a:r>
                        <a:rPr dirty="0" sz="900" spc="3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clearer</a:t>
                      </a:r>
                      <a:r>
                        <a:rPr dirty="0" sz="900" spc="3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skies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Wind</a:t>
                      </a:r>
                      <a:r>
                        <a:rPr dirty="0" sz="900" spc="1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speed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+0.174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Slight,</a:t>
                      </a:r>
                      <a:r>
                        <a:rPr dirty="0" sz="900" spc="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positive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Picks</a:t>
                      </a:r>
                      <a:r>
                        <a:rPr dirty="0" sz="900" spc="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up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around</a:t>
                      </a:r>
                      <a:r>
                        <a:rPr dirty="0" sz="900" spc="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midday</a:t>
                      </a:r>
                      <a:r>
                        <a:rPr dirty="0" sz="900" spc="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heat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Wind</a:t>
                      </a:r>
                      <a:r>
                        <a:rPr dirty="0" sz="900" spc="1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direction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0.091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Negligible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Basically</a:t>
                      </a:r>
                      <a:r>
                        <a:rPr dirty="0" sz="900" spc="5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doesn't</a:t>
                      </a:r>
                      <a:r>
                        <a:rPr dirty="0" sz="900" spc="6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care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320" y="6056856"/>
            <a:ext cx="3054303" cy="162863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030559" y="6179239"/>
            <a:ext cx="2756535" cy="223520"/>
          </a:xfrm>
          <a:custGeom>
            <a:avLst/>
            <a:gdLst/>
            <a:ahLst/>
            <a:cxnLst/>
            <a:rect l="l" t="t" r="r" b="b"/>
            <a:pathLst>
              <a:path w="2756534" h="223520">
                <a:moveTo>
                  <a:pt x="2756160" y="0"/>
                </a:moveTo>
                <a:lnTo>
                  <a:pt x="0" y="0"/>
                </a:lnTo>
                <a:lnTo>
                  <a:pt x="0" y="223519"/>
                </a:lnTo>
                <a:lnTo>
                  <a:pt x="2756160" y="223519"/>
                </a:lnTo>
                <a:lnTo>
                  <a:pt x="2756160" y="0"/>
                </a:lnTo>
                <a:close/>
              </a:path>
            </a:pathLst>
          </a:custGeom>
          <a:solidFill>
            <a:srgbClr val="2D8A5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97199" y="3584928"/>
            <a:ext cx="6365875" cy="3009265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465"/>
              </a:spcBef>
            </a:pP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What</a:t>
            </a:r>
            <a:r>
              <a:rPr dirty="0" sz="1250" spc="-2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the</a:t>
            </a:r>
            <a:r>
              <a:rPr dirty="0" sz="1250" spc="-2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numbers</a:t>
            </a:r>
            <a:r>
              <a:rPr dirty="0" sz="1250" spc="-2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are</a:t>
            </a:r>
            <a:r>
              <a:rPr dirty="0" sz="1250" spc="-2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C6B42"/>
                </a:solidFill>
                <a:latin typeface="Calibri"/>
                <a:cs typeface="Calibri"/>
              </a:rPr>
              <a:t>saying</a:t>
            </a:r>
            <a:endParaRPr sz="1250">
              <a:latin typeface="Calibri"/>
              <a:cs typeface="Calibri"/>
            </a:endParaRPr>
          </a:p>
          <a:p>
            <a:pPr marL="189230" marR="161290" indent="-125730">
              <a:lnSpc>
                <a:spcPct val="113300"/>
              </a:lnSpc>
              <a:spcBef>
                <a:spcPts val="160"/>
              </a:spcBef>
              <a:buFont typeface="Arial"/>
              <a:buChar char="•"/>
              <a:tabLst>
                <a:tab pos="190500" algn="l"/>
              </a:tabLst>
            </a:pP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Sunlight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is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zero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overnight,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climbs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after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dawn,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peaks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between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12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1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PM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then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fades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same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way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it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came,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 	tidy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bell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curve.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best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hourly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average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is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727.47</a:t>
            </a:r>
            <a:r>
              <a:rPr dirty="0" sz="1000" spc="2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20" b="1">
                <a:solidFill>
                  <a:srgbClr val="2A2A2A"/>
                </a:solidFill>
                <a:latin typeface="Calibri"/>
                <a:cs typeface="Calibri"/>
              </a:rPr>
              <a:t>W/m</a:t>
            </a:r>
            <a:r>
              <a:rPr dirty="0" baseline="34722" sz="1200" spc="-30" b="1">
                <a:solidFill>
                  <a:srgbClr val="2A2A2A"/>
                </a:solidFill>
                <a:latin typeface="Calibri"/>
                <a:cs typeface="Calibri"/>
              </a:rPr>
              <a:t>2</a:t>
            </a:r>
            <a:r>
              <a:rPr dirty="0" sz="1000" spc="-20">
                <a:solidFill>
                  <a:srgbClr val="2A2A2A"/>
                </a:solidFill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  <a:p>
            <a:pPr marL="189230" marR="224154" indent="-125730">
              <a:lnSpc>
                <a:spcPct val="113300"/>
              </a:lnSpc>
              <a:spcBef>
                <a:spcPts val="220"/>
              </a:spcBef>
              <a:buFont typeface="Arial"/>
              <a:buChar char="•"/>
              <a:tabLst>
                <a:tab pos="190500" algn="l"/>
              </a:tabLst>
            </a:pP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Humidity</a:t>
            </a:r>
            <a:r>
              <a:rPr dirty="0" sz="1000" spc="3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works</a:t>
            </a:r>
            <a:r>
              <a:rPr dirty="0" sz="1000" spc="3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like</a:t>
            </a:r>
            <a:r>
              <a:rPr dirty="0" sz="1000" spc="3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1000" spc="3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lid.</a:t>
            </a:r>
            <a:r>
              <a:rPr dirty="0" sz="1000" spc="3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On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dry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days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radiation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can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reach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its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maximum;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once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humidity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creeps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past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about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60%,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A2A2A"/>
                </a:solidFill>
                <a:latin typeface="Calibri"/>
                <a:cs typeface="Calibri"/>
              </a:rPr>
              <a:t>it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 	drops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off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sharply.</a:t>
            </a:r>
            <a:endParaRPr sz="1000">
              <a:latin typeface="Calibri"/>
              <a:cs typeface="Calibri"/>
            </a:endParaRPr>
          </a:p>
          <a:p>
            <a:pPr marL="189230" marR="138430" indent="-125730">
              <a:lnSpc>
                <a:spcPct val="113300"/>
              </a:lnSpc>
              <a:spcBef>
                <a:spcPts val="220"/>
              </a:spcBef>
              <a:buFont typeface="Arial"/>
              <a:buChar char="•"/>
              <a:tabLst>
                <a:tab pos="190500" algn="l"/>
              </a:tabLst>
            </a:pP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1000" spc="2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sensor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having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1000" spc="2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bad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day.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Daily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average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humidity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comes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out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at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101.17%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on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29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Oct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101.11%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on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30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Oct,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which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	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can't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happen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in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real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life.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Rain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or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dew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most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likely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confused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probe.</a:t>
            </a:r>
            <a:endParaRPr sz="1000">
              <a:latin typeface="Calibri"/>
              <a:cs typeface="Calibri"/>
            </a:endParaRPr>
          </a:p>
          <a:p>
            <a:pPr marL="189230" marR="43180" indent="-125730">
              <a:lnSpc>
                <a:spcPct val="113300"/>
              </a:lnSpc>
              <a:spcBef>
                <a:spcPts val="225"/>
              </a:spcBef>
              <a:buFont typeface="Arial"/>
              <a:buChar char="•"/>
              <a:tabLst>
                <a:tab pos="190500" algn="l"/>
              </a:tabLst>
            </a:pP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2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twist.</a:t>
            </a:r>
            <a:r>
              <a:rPr dirty="0" sz="1000" spc="2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day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with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single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biggest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spike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wasn't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day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with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best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average.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Peaks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above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solar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constant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	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(about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1,361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W/m</a:t>
            </a:r>
            <a:r>
              <a:rPr dirty="0" baseline="34722" sz="1200">
                <a:solidFill>
                  <a:srgbClr val="2A2A2A"/>
                </a:solidFill>
                <a:latin typeface="Calibri"/>
                <a:cs typeface="Calibri"/>
              </a:rPr>
              <a:t>2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)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turn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up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on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partly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cloudy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days,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when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bright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cloud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edges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bounce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extra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light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onto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sensor.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	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Inverters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grid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controllers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have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be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ready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for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those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surges.</a:t>
            </a:r>
            <a:endParaRPr sz="1000">
              <a:latin typeface="Calibri"/>
              <a:cs typeface="Calibri"/>
            </a:endParaRPr>
          </a:p>
          <a:p>
            <a:pPr marL="189230" marR="322580" indent="-125730">
              <a:lnSpc>
                <a:spcPct val="113300"/>
              </a:lnSpc>
              <a:spcBef>
                <a:spcPts val="219"/>
              </a:spcBef>
              <a:buFont typeface="Arial"/>
              <a:buChar char="•"/>
              <a:tabLst>
                <a:tab pos="190500" algn="l"/>
              </a:tabLst>
            </a:pP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So</a:t>
            </a:r>
            <a:r>
              <a:rPr dirty="0" sz="1000" spc="2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what</a:t>
            </a:r>
            <a:r>
              <a:rPr dirty="0" sz="1000" spc="2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do</a:t>
            </a:r>
            <a:r>
              <a:rPr dirty="0" sz="1000" spc="2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we</a:t>
            </a:r>
            <a:r>
              <a:rPr dirty="0" sz="1000" spc="2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do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with</a:t>
            </a:r>
            <a:r>
              <a:rPr dirty="0" sz="1000" spc="2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this?</a:t>
            </a:r>
            <a:r>
              <a:rPr dirty="0" sz="1000" spc="2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Aim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single-axis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trackers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at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11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AM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2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PM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window,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let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air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flow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behind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 	panels,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because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hot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cells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lose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efficiency.</a:t>
            </a:r>
            <a:endParaRPr sz="1000">
              <a:latin typeface="Calibri"/>
              <a:cs typeface="Calibri"/>
            </a:endParaRPr>
          </a:p>
          <a:p>
            <a:pPr marL="3432810">
              <a:lnSpc>
                <a:spcPct val="100000"/>
              </a:lnSpc>
              <a:spcBef>
                <a:spcPts val="660"/>
              </a:spcBef>
            </a:pP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How</a:t>
            </a:r>
            <a:r>
              <a:rPr dirty="0" sz="1250" spc="-2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well</a:t>
            </a:r>
            <a:r>
              <a:rPr dirty="0" sz="1250" spc="-2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the</a:t>
            </a:r>
            <a:r>
              <a:rPr dirty="0" sz="1250" spc="-2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model</a:t>
            </a:r>
            <a:r>
              <a:rPr dirty="0" sz="1250" spc="-25" b="1">
                <a:solidFill>
                  <a:srgbClr val="1C6B42"/>
                </a:solidFill>
                <a:latin typeface="Calibri"/>
                <a:cs typeface="Calibri"/>
              </a:rPr>
              <a:t> did</a:t>
            </a:r>
            <a:endParaRPr sz="1250">
              <a:latin typeface="Calibri"/>
              <a:cs typeface="Calibri"/>
            </a:endParaRPr>
          </a:p>
          <a:p>
            <a:pPr marL="3496310">
              <a:lnSpc>
                <a:spcPct val="100000"/>
              </a:lnSpc>
              <a:spcBef>
                <a:spcPts val="620"/>
              </a:spcBef>
              <a:tabLst>
                <a:tab pos="4749165" algn="l"/>
              </a:tabLst>
            </a:pP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Measure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Result</a:t>
            </a:r>
            <a:endParaRPr sz="900">
              <a:latin typeface="Calibri"/>
              <a:cs typeface="Calibri"/>
            </a:endParaRPr>
          </a:p>
          <a:p>
            <a:pPr marL="3496310">
              <a:lnSpc>
                <a:spcPct val="100000"/>
              </a:lnSpc>
              <a:spcBef>
                <a:spcPts val="680"/>
              </a:spcBef>
              <a:tabLst>
                <a:tab pos="4749165" algn="l"/>
              </a:tabLst>
            </a:pP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Algorithm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	Random</a:t>
            </a:r>
            <a:r>
              <a:rPr dirty="0" sz="900" spc="6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Forest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30559" y="6402759"/>
            <a:ext cx="2756535" cy="0"/>
          </a:xfrm>
          <a:custGeom>
            <a:avLst/>
            <a:gdLst/>
            <a:ahLst/>
            <a:cxnLst/>
            <a:rect l="l" t="t" r="r" b="b"/>
            <a:pathLst>
              <a:path w="2756534" h="0">
                <a:moveTo>
                  <a:pt x="0" y="0"/>
                </a:moveTo>
                <a:lnTo>
                  <a:pt x="2756160" y="0"/>
                </a:lnTo>
              </a:path>
            </a:pathLst>
          </a:custGeom>
          <a:ln w="5080">
            <a:solidFill>
              <a:srgbClr val="CFE6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030559" y="6626280"/>
            <a:ext cx="2756535" cy="223520"/>
          </a:xfrm>
          <a:custGeom>
            <a:avLst/>
            <a:gdLst/>
            <a:ahLst/>
            <a:cxnLst/>
            <a:rect l="l" t="t" r="r" b="b"/>
            <a:pathLst>
              <a:path w="2756534" h="223520">
                <a:moveTo>
                  <a:pt x="2756160" y="0"/>
                </a:moveTo>
                <a:lnTo>
                  <a:pt x="0" y="0"/>
                </a:lnTo>
                <a:lnTo>
                  <a:pt x="0" y="223519"/>
                </a:lnTo>
                <a:lnTo>
                  <a:pt x="2756160" y="223519"/>
                </a:lnTo>
                <a:lnTo>
                  <a:pt x="2756160" y="0"/>
                </a:lnTo>
                <a:close/>
              </a:path>
            </a:pathLst>
          </a:custGeom>
          <a:solidFill>
            <a:srgbClr val="F6FB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068659" y="6593260"/>
            <a:ext cx="174625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dirty="0" baseline="-27777" sz="1350" spc="-37">
                <a:solidFill>
                  <a:srgbClr val="2A2A2A"/>
                </a:solidFill>
                <a:latin typeface="Calibri"/>
                <a:cs typeface="Calibri"/>
              </a:rPr>
              <a:t>R</a:t>
            </a:r>
            <a:r>
              <a:rPr dirty="0" sz="700" spc="-25">
                <a:solidFill>
                  <a:srgbClr val="2A2A2A"/>
                </a:solidFill>
                <a:latin typeface="Calibri"/>
                <a:cs typeface="Calibri"/>
              </a:rPr>
              <a:t>2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46860" y="6651680"/>
            <a:ext cx="785495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0.9304</a:t>
            </a:r>
            <a:r>
              <a:rPr dirty="0" sz="900" spc="7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(93.04%)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030559" y="6626280"/>
            <a:ext cx="2756535" cy="223520"/>
          </a:xfrm>
          <a:custGeom>
            <a:avLst/>
            <a:gdLst/>
            <a:ahLst/>
            <a:cxnLst/>
            <a:rect l="l" t="t" r="r" b="b"/>
            <a:pathLst>
              <a:path w="2756534" h="223520">
                <a:moveTo>
                  <a:pt x="0" y="0"/>
                </a:moveTo>
                <a:lnTo>
                  <a:pt x="2756160" y="0"/>
                </a:lnTo>
              </a:path>
              <a:path w="2756534" h="223520">
                <a:moveTo>
                  <a:pt x="0" y="223519"/>
                </a:moveTo>
                <a:lnTo>
                  <a:pt x="2756160" y="223519"/>
                </a:lnTo>
              </a:path>
            </a:pathLst>
          </a:custGeom>
          <a:ln w="5080">
            <a:solidFill>
              <a:srgbClr val="CFE6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30559" y="7073320"/>
            <a:ext cx="2756535" cy="223520"/>
          </a:xfrm>
          <a:custGeom>
            <a:avLst/>
            <a:gdLst/>
            <a:ahLst/>
            <a:cxnLst/>
            <a:rect l="l" t="t" r="r" b="b"/>
            <a:pathLst>
              <a:path w="2756534" h="223520">
                <a:moveTo>
                  <a:pt x="2756160" y="0"/>
                </a:moveTo>
                <a:lnTo>
                  <a:pt x="0" y="0"/>
                </a:lnTo>
                <a:lnTo>
                  <a:pt x="0" y="223519"/>
                </a:lnTo>
                <a:lnTo>
                  <a:pt x="2756160" y="223519"/>
                </a:lnTo>
                <a:lnTo>
                  <a:pt x="2756160" y="0"/>
                </a:lnTo>
                <a:close/>
              </a:path>
            </a:pathLst>
          </a:custGeom>
          <a:solidFill>
            <a:srgbClr val="F6FB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030559" y="7520359"/>
            <a:ext cx="2756535" cy="223520"/>
          </a:xfrm>
          <a:custGeom>
            <a:avLst/>
            <a:gdLst/>
            <a:ahLst/>
            <a:cxnLst/>
            <a:rect l="l" t="t" r="r" b="b"/>
            <a:pathLst>
              <a:path w="2756534" h="223520">
                <a:moveTo>
                  <a:pt x="2756160" y="0"/>
                </a:moveTo>
                <a:lnTo>
                  <a:pt x="0" y="0"/>
                </a:lnTo>
                <a:lnTo>
                  <a:pt x="0" y="223520"/>
                </a:lnTo>
                <a:lnTo>
                  <a:pt x="2756160" y="223520"/>
                </a:lnTo>
                <a:lnTo>
                  <a:pt x="2756160" y="0"/>
                </a:lnTo>
                <a:close/>
              </a:path>
            </a:pathLst>
          </a:custGeom>
          <a:solidFill>
            <a:srgbClr val="F6FB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979759" y="6875199"/>
            <a:ext cx="2858135" cy="83629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14300">
              <a:lnSpc>
                <a:spcPct val="100000"/>
              </a:lnSpc>
              <a:spcBef>
                <a:spcPts val="120"/>
              </a:spcBef>
              <a:tabLst>
                <a:tab pos="1366520" algn="l"/>
              </a:tabLst>
            </a:pPr>
            <a:r>
              <a:rPr dirty="0" sz="900" spc="-20">
                <a:solidFill>
                  <a:srgbClr val="2A2A2A"/>
                </a:solidFill>
                <a:latin typeface="Calibri"/>
                <a:cs typeface="Calibri"/>
              </a:rPr>
              <a:t>RMSE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	83.16</a:t>
            </a:r>
            <a:r>
              <a:rPr dirty="0" sz="900" spc="6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2A2A2A"/>
                </a:solidFill>
                <a:latin typeface="Calibri"/>
                <a:cs typeface="Calibri"/>
              </a:rPr>
              <a:t>W/m</a:t>
            </a:r>
            <a:r>
              <a:rPr dirty="0" baseline="35714" sz="1050" spc="-30">
                <a:solidFill>
                  <a:srgbClr val="2A2A2A"/>
                </a:solidFill>
                <a:latin typeface="Calibri"/>
                <a:cs typeface="Calibri"/>
              </a:rPr>
              <a:t>2</a:t>
            </a:r>
            <a:endParaRPr baseline="35714" sz="1050">
              <a:latin typeface="Calibri"/>
              <a:cs typeface="Calibri"/>
            </a:endParaRPr>
          </a:p>
          <a:p>
            <a:pPr marL="114300">
              <a:lnSpc>
                <a:spcPct val="100000"/>
              </a:lnSpc>
              <a:spcBef>
                <a:spcPts val="680"/>
              </a:spcBef>
              <a:tabLst>
                <a:tab pos="1366520" algn="l"/>
              </a:tabLst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Top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feature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	HourCos,</a:t>
            </a:r>
            <a:r>
              <a:rPr dirty="0" sz="900" spc="6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0.7505</a:t>
            </a:r>
            <a:endParaRPr sz="900">
              <a:latin typeface="Calibri"/>
              <a:cs typeface="Calibri"/>
            </a:endParaRPr>
          </a:p>
          <a:p>
            <a:pPr marL="114300">
              <a:lnSpc>
                <a:spcPct val="100000"/>
              </a:lnSpc>
              <a:spcBef>
                <a:spcPts val="680"/>
              </a:spcBef>
              <a:tabLst>
                <a:tab pos="1366520" algn="l"/>
              </a:tabLst>
            </a:pP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Second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	Humidity,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0.1107</a:t>
            </a:r>
            <a:endParaRPr sz="900">
              <a:latin typeface="Calibri"/>
              <a:cs typeface="Calibri"/>
            </a:endParaRPr>
          </a:p>
          <a:p>
            <a:pPr marL="114300">
              <a:lnSpc>
                <a:spcPct val="100000"/>
              </a:lnSpc>
              <a:spcBef>
                <a:spcPts val="680"/>
              </a:spcBef>
              <a:tabLst>
                <a:tab pos="1366520" algn="l"/>
              </a:tabLst>
            </a:pP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Third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	Temperature,</a:t>
            </a:r>
            <a:r>
              <a:rPr dirty="0" sz="900" spc="1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0.0297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030559" y="7073320"/>
            <a:ext cx="2756535" cy="223520"/>
          </a:xfrm>
          <a:custGeom>
            <a:avLst/>
            <a:gdLst/>
            <a:ahLst/>
            <a:cxnLst/>
            <a:rect l="l" t="t" r="r" b="b"/>
            <a:pathLst>
              <a:path w="2756534" h="223520">
                <a:moveTo>
                  <a:pt x="0" y="0"/>
                </a:moveTo>
                <a:lnTo>
                  <a:pt x="2756160" y="0"/>
                </a:lnTo>
              </a:path>
              <a:path w="2756534" h="223520">
                <a:moveTo>
                  <a:pt x="0" y="223519"/>
                </a:moveTo>
                <a:lnTo>
                  <a:pt x="2756160" y="223519"/>
                </a:lnTo>
              </a:path>
            </a:pathLst>
          </a:custGeom>
          <a:ln w="5080">
            <a:solidFill>
              <a:srgbClr val="CFE6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030559" y="7520359"/>
            <a:ext cx="2756535" cy="223520"/>
          </a:xfrm>
          <a:custGeom>
            <a:avLst/>
            <a:gdLst/>
            <a:ahLst/>
            <a:cxnLst/>
            <a:rect l="l" t="t" r="r" b="b"/>
            <a:pathLst>
              <a:path w="2756534" h="223520">
                <a:moveTo>
                  <a:pt x="0" y="0"/>
                </a:moveTo>
                <a:lnTo>
                  <a:pt x="2756160" y="0"/>
                </a:lnTo>
              </a:path>
              <a:path w="2756534" h="223520">
                <a:moveTo>
                  <a:pt x="0" y="223520"/>
                </a:moveTo>
                <a:lnTo>
                  <a:pt x="2756160" y="223520"/>
                </a:lnTo>
              </a:path>
            </a:pathLst>
          </a:custGeom>
          <a:ln w="5080">
            <a:solidFill>
              <a:srgbClr val="CFE6D8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490088"/>
            <a:ext cx="6237605" cy="120459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Mustafar:</a:t>
            </a:r>
            <a:r>
              <a:rPr dirty="0" sz="2100" spc="-3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the</a:t>
            </a:r>
            <a:r>
              <a:rPr dirty="0" sz="2100" spc="-3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same</a:t>
            </a:r>
            <a:r>
              <a:rPr dirty="0" sz="2100" spc="-3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rocket</a:t>
            </a:r>
            <a:r>
              <a:rPr dirty="0" sz="2100" spc="-3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under</a:t>
            </a:r>
            <a:r>
              <a:rPr dirty="0" sz="2100" spc="-2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a</a:t>
            </a:r>
            <a:r>
              <a:rPr dirty="0" sz="2100" spc="-3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very</a:t>
            </a:r>
            <a:r>
              <a:rPr dirty="0" sz="2100" spc="-3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different</a:t>
            </a:r>
            <a:r>
              <a:rPr dirty="0" sz="2100" spc="-3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spc="-25" b="1">
                <a:solidFill>
                  <a:srgbClr val="1C6B42"/>
                </a:solidFill>
                <a:latin typeface="Calibri"/>
                <a:cs typeface="Calibri"/>
              </a:rPr>
              <a:t>sky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Same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rocket,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same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motors,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same</a:t>
            </a:r>
            <a:r>
              <a:rPr dirty="0" sz="1000" spc="50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wind.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Only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the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world</a:t>
            </a:r>
            <a:r>
              <a:rPr dirty="0" sz="1000" spc="50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underneath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it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5E6B64"/>
                </a:solidFill>
                <a:latin typeface="Calibri"/>
                <a:cs typeface="Calibri"/>
              </a:rPr>
              <a:t>changed.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13300"/>
              </a:lnSpc>
              <a:spcBef>
                <a:spcPts val="600"/>
              </a:spcBef>
            </a:pP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3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rocket:</a:t>
            </a:r>
            <a:r>
              <a:rPr dirty="0" sz="1000" spc="3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6.88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kg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aluminium-bodied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rocket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carrying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1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kg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payload,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with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Contrail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J416-SP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booster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Cesaroni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567I125-10A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sustainer.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Stage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separations,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parachute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events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10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m/s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wind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from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270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degrees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were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identical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A2A2A"/>
                </a:solidFill>
                <a:latin typeface="Calibri"/>
                <a:cs typeface="Calibri"/>
              </a:rPr>
              <a:t>in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 both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OpenRocket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runs,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so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any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difference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comes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down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environment.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47999" y="1736780"/>
          <a:ext cx="6340475" cy="4125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0575"/>
                <a:gridCol w="1370964"/>
                <a:gridCol w="1377950"/>
                <a:gridCol w="507364"/>
                <a:gridCol w="947420"/>
              </a:tblGrid>
              <a:tr h="2228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Environment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2D8A56"/>
                    </a:solidFill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Earth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2D8A56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Mustafar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2D8A56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Change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2D8A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2D8A56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Gravity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9.79</a:t>
                      </a:r>
                      <a:r>
                        <a:rPr dirty="0" sz="900" spc="4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m/s</a:t>
                      </a:r>
                      <a:r>
                        <a:rPr dirty="0" baseline="35714" sz="1050" spc="-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baseline="35714" sz="105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6.50</a:t>
                      </a:r>
                      <a:r>
                        <a:rPr dirty="0" sz="900" spc="4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m/s</a:t>
                      </a:r>
                      <a:r>
                        <a:rPr dirty="0" baseline="35714" sz="1050" spc="-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baseline="35714" sz="105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900" spc="-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34%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</a:tr>
              <a:tr h="2228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Surface</a:t>
                      </a:r>
                      <a:r>
                        <a:rPr dirty="0" sz="900" spc="5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pressure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101.3</a:t>
                      </a:r>
                      <a:r>
                        <a:rPr dirty="0" sz="900" spc="6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kPa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75</a:t>
                      </a:r>
                      <a:r>
                        <a:rPr dirty="0" sz="900" spc="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kPa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900" spc="-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26%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Surface</a:t>
                      </a:r>
                      <a:r>
                        <a:rPr dirty="0" sz="900" spc="5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temperature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288</a:t>
                      </a:r>
                      <a:r>
                        <a:rPr dirty="0" sz="900" spc="4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K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700</a:t>
                      </a:r>
                      <a:r>
                        <a:rPr dirty="0" sz="900" spc="4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K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+412</a:t>
                      </a:r>
                      <a:r>
                        <a:rPr dirty="0" sz="900" spc="5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K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Air</a:t>
                      </a:r>
                      <a:r>
                        <a:rPr dirty="0" sz="900" spc="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density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1.225</a:t>
                      </a:r>
                      <a:r>
                        <a:rPr dirty="0" sz="900" spc="6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kg/m</a:t>
                      </a:r>
                      <a:r>
                        <a:rPr dirty="0" baseline="35714" sz="1050" spc="-1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baseline="35714" sz="105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0.373</a:t>
                      </a:r>
                      <a:r>
                        <a:rPr dirty="0" sz="900" spc="6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kg/m</a:t>
                      </a:r>
                      <a:r>
                        <a:rPr dirty="0" baseline="35714" sz="1050" spc="-1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baseline="35714" sz="105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900" spc="-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70%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250" b="1">
                          <a:solidFill>
                            <a:srgbClr val="1C6B42"/>
                          </a:solidFill>
                          <a:latin typeface="Calibri"/>
                          <a:cs typeface="Calibri"/>
                        </a:rPr>
                        <a:t>So</a:t>
                      </a:r>
                      <a:r>
                        <a:rPr dirty="0" sz="1250" spc="-15" b="1">
                          <a:solidFill>
                            <a:srgbClr val="1C6B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b="1">
                          <a:solidFill>
                            <a:srgbClr val="1C6B42"/>
                          </a:solidFill>
                          <a:latin typeface="Calibri"/>
                          <a:cs typeface="Calibri"/>
                        </a:rPr>
                        <a:t>what</a:t>
                      </a:r>
                      <a:r>
                        <a:rPr dirty="0" sz="1250" spc="-15" b="1">
                          <a:solidFill>
                            <a:srgbClr val="1C6B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 b="1">
                          <a:solidFill>
                            <a:srgbClr val="1C6B42"/>
                          </a:solidFill>
                          <a:latin typeface="Calibri"/>
                          <a:cs typeface="Calibri"/>
                        </a:rPr>
                        <a:t>happened?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0">
                    <a:lnT w="6350">
                      <a:solidFill>
                        <a:srgbClr val="CFE6D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CFE6D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CFE6D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CFE6D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CFE6D8"/>
                      </a:solidFill>
                      <a:prstDash val="solid"/>
                    </a:lnT>
                  </a:tcPr>
                </a:tc>
              </a:tr>
              <a:tr h="2228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Quantity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2D8A56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869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Earth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2D8A56"/>
                    </a:solidFill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Mustafar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2D8A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2D8A56"/>
                    </a:solidFill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Change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2D8A56"/>
                    </a:solidFill>
                  </a:tcPr>
                </a:tc>
              </a:tr>
              <a:tr h="2228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Apogee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1,922</a:t>
                      </a:r>
                      <a:r>
                        <a:rPr dirty="0" sz="900" spc="6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7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3,929</a:t>
                      </a:r>
                      <a:r>
                        <a:rPr dirty="0" sz="900" spc="6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x2.04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r>
                        <a:rPr dirty="0" sz="900" spc="1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900" spc="1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apogee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marL="5080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19.8</a:t>
                      </a:r>
                      <a:r>
                        <a:rPr dirty="0" sz="900" spc="4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33.6</a:t>
                      </a:r>
                      <a:r>
                        <a:rPr dirty="0" sz="900" spc="4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x1.70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Maximum</a:t>
                      </a:r>
                      <a:r>
                        <a:rPr dirty="0" sz="900" spc="3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velocity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206.7</a:t>
                      </a:r>
                      <a:r>
                        <a:rPr dirty="0" sz="900" spc="6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m/s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261.9</a:t>
                      </a:r>
                      <a:r>
                        <a:rPr dirty="0" sz="900" spc="6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m/s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+27%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Maximum</a:t>
                      </a:r>
                      <a:r>
                        <a:rPr dirty="0" sz="900" spc="3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Mach</a:t>
                      </a:r>
                      <a:r>
                        <a:rPr dirty="0" sz="900" spc="4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number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800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0.626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723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0.473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900" spc="-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24%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Maximum</a:t>
                      </a:r>
                      <a:r>
                        <a:rPr dirty="0" sz="900" spc="3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acceleration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104.6</a:t>
                      </a:r>
                      <a:r>
                        <a:rPr dirty="0" sz="900" spc="6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m/s</a:t>
                      </a:r>
                      <a:r>
                        <a:rPr dirty="0" baseline="35714" sz="1050" spc="-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baseline="35714" sz="105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107.9</a:t>
                      </a:r>
                      <a:r>
                        <a:rPr dirty="0" sz="900" spc="6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m/s</a:t>
                      </a:r>
                      <a:r>
                        <a:rPr dirty="0" baseline="35714" sz="1050" spc="-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baseline="35714" sz="105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+3.3</a:t>
                      </a:r>
                      <a:r>
                        <a:rPr dirty="0" sz="900" spc="4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m/s</a:t>
                      </a:r>
                      <a:r>
                        <a:rPr dirty="0" baseline="35714" sz="1050" spc="-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baseline="35714" sz="105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</a:tr>
              <a:tr h="2228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Peak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dynamic</a:t>
                      </a:r>
                      <a:r>
                        <a:rPr dirty="0" sz="900" spc="3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pressure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marL="5080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24.3</a:t>
                      </a:r>
                      <a:r>
                        <a:rPr dirty="0" sz="900" spc="4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kPa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13.0</a:t>
                      </a:r>
                      <a:r>
                        <a:rPr dirty="0" sz="900" spc="4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kPa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900" spc="-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46%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</a:tr>
              <a:tr h="2228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Stability</a:t>
                      </a:r>
                      <a:r>
                        <a:rPr dirty="0" sz="900" spc="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margin</a:t>
                      </a:r>
                      <a:r>
                        <a:rPr dirty="0" sz="900" spc="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(low</a:t>
                      </a:r>
                      <a:r>
                        <a:rPr dirty="0" sz="900" spc="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900" spc="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high)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35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1.97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900" spc="3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4.58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cal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35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1.87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900" spc="3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4.56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cal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about</a:t>
                      </a:r>
                      <a:r>
                        <a:rPr dirty="0" sz="900" spc="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same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Descent</a:t>
                      </a:r>
                      <a:r>
                        <a:rPr dirty="0" sz="900" spc="4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rate,</a:t>
                      </a:r>
                      <a:r>
                        <a:rPr dirty="0" sz="900" spc="4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container</a:t>
                      </a:r>
                      <a:r>
                        <a:rPr dirty="0" sz="900" spc="4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900" spc="4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sustainer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320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3.65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900" spc="3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3.61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m/s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320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5.32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900" spc="3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5.25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m/s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x1.46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x1.45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Downrange</a:t>
                      </a:r>
                      <a:r>
                        <a:rPr dirty="0" sz="900" spc="4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drift</a:t>
                      </a:r>
                      <a:r>
                        <a:rPr dirty="0" sz="900" spc="4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(container</a:t>
                      </a:r>
                      <a:r>
                        <a:rPr dirty="0" sz="900" spc="4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900" spc="4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sustainer)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95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4.10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900" spc="3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4.16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km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95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5.87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900" spc="3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5.97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km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x1.43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</a:tr>
              <a:tr h="2228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Flight</a:t>
                      </a:r>
                      <a:r>
                        <a:rPr dirty="0" sz="900" spc="1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r>
                        <a:rPr dirty="0" sz="900" spc="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(container)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965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532</a:t>
                      </a:r>
                      <a:r>
                        <a:rPr dirty="0" sz="900" spc="4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786</a:t>
                      </a:r>
                      <a:r>
                        <a:rPr dirty="0" sz="900" spc="4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x1.48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Speed</a:t>
                      </a:r>
                      <a:r>
                        <a:rPr dirty="0" sz="900" spc="3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at</a:t>
                      </a:r>
                      <a:r>
                        <a:rPr dirty="0" sz="900" spc="4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parachute</a:t>
                      </a:r>
                      <a:r>
                        <a:rPr dirty="0" sz="900" spc="4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deployment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40.9</a:t>
                      </a:r>
                      <a:r>
                        <a:rPr dirty="0" sz="900" spc="4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m/s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39.2</a:t>
                      </a:r>
                      <a:r>
                        <a:rPr dirty="0" sz="900" spc="4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m/s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similar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09899" y="5909029"/>
            <a:ext cx="6247765" cy="1358265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65"/>
              </a:spcBef>
            </a:pP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The</a:t>
            </a:r>
            <a:r>
              <a:rPr dirty="0" sz="1250" spc="-3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prediction,</a:t>
            </a:r>
            <a:r>
              <a:rPr dirty="0" sz="1250" spc="-2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and</a:t>
            </a:r>
            <a:r>
              <a:rPr dirty="0" sz="1250" spc="-2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how</a:t>
            </a:r>
            <a:r>
              <a:rPr dirty="0" sz="1250" spc="-2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it</a:t>
            </a:r>
            <a:r>
              <a:rPr dirty="0" sz="1250" spc="-3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held</a:t>
            </a:r>
            <a:r>
              <a:rPr dirty="0" sz="1250" spc="-25" b="1">
                <a:solidFill>
                  <a:srgbClr val="1C6B42"/>
                </a:solidFill>
                <a:latin typeface="Calibri"/>
                <a:cs typeface="Calibri"/>
              </a:rPr>
              <a:t> up</a:t>
            </a:r>
            <a:endParaRPr sz="1250">
              <a:latin typeface="Calibri"/>
              <a:cs typeface="Calibri"/>
            </a:endParaRPr>
          </a:p>
          <a:p>
            <a:pPr marL="38100" marR="30480">
              <a:lnSpc>
                <a:spcPct val="113300"/>
              </a:lnSpc>
              <a:spcBef>
                <a:spcPts val="160"/>
              </a:spcBef>
            </a:pP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Before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running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anything,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team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made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guess: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lower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gravity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means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lighter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rocket,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so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it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should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accelerate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harder,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lose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less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speed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gravity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coast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for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longer.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numbers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backed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them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up.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Weight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drops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from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67.4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N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44.7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A2A2A"/>
                </a:solidFill>
                <a:latin typeface="Calibri"/>
                <a:cs typeface="Calibri"/>
              </a:rPr>
              <a:t>N,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 maximum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acceleration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rose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by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3.3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m/s</a:t>
            </a:r>
            <a:r>
              <a:rPr dirty="0" baseline="34722" sz="1200">
                <a:solidFill>
                  <a:srgbClr val="2A2A2A"/>
                </a:solidFill>
                <a:latin typeface="Calibri"/>
                <a:cs typeface="Calibri"/>
              </a:rPr>
              <a:t>2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,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exactly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drop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in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gravity,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over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7.3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powered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phase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gravity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steals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about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72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m/s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on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Earth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but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only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about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48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m/s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on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Mustafar.</a:t>
            </a:r>
            <a:endParaRPr sz="1000">
              <a:latin typeface="Calibri"/>
              <a:cs typeface="Calibri"/>
            </a:endParaRPr>
          </a:p>
          <a:p>
            <a:pPr marL="38100" marR="241935">
              <a:lnSpc>
                <a:spcPct val="113300"/>
              </a:lnSpc>
              <a:spcBef>
                <a:spcPts val="300"/>
              </a:spcBef>
            </a:pP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Put</a:t>
            </a:r>
            <a:r>
              <a:rPr dirty="0" sz="1000" spc="2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simply:</a:t>
            </a:r>
            <a:r>
              <a:rPr dirty="0" sz="1000" spc="3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thin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air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weak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gravity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let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rocket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climb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higher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stay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up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longer.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flip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side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is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way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down.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Thinner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air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gives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parachutes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less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grab,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so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it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lands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faster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drifts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further.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6872" y="7521459"/>
            <a:ext cx="4618592" cy="2352480"/>
          </a:xfrm>
          <a:prstGeom prst="rect">
            <a:avLst/>
          </a:prstGeom>
        </p:spPr>
      </p:pic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490088"/>
            <a:ext cx="4836795" cy="91948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Orbital</a:t>
            </a:r>
            <a:r>
              <a:rPr dirty="0" sz="2100" spc="-1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Fuel:</a:t>
            </a:r>
            <a:r>
              <a:rPr dirty="0" sz="2100" spc="-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how</a:t>
            </a:r>
            <a:r>
              <a:rPr dirty="0" sz="2100" spc="-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it</a:t>
            </a:r>
            <a:r>
              <a:rPr dirty="0" sz="2100" spc="-1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works</a:t>
            </a:r>
            <a:r>
              <a:rPr dirty="0" sz="2100" spc="-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and</a:t>
            </a:r>
            <a:r>
              <a:rPr dirty="0" sz="2100" spc="-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what</a:t>
            </a:r>
            <a:r>
              <a:rPr dirty="0" sz="2100" spc="-1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it</a:t>
            </a:r>
            <a:r>
              <a:rPr dirty="0" sz="2100" spc="-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spc="-10" b="1">
                <a:solidFill>
                  <a:srgbClr val="1C6B42"/>
                </a:solidFill>
                <a:latin typeface="Calibri"/>
                <a:cs typeface="Calibri"/>
              </a:rPr>
              <a:t>costs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A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six-slide</a:t>
            </a:r>
            <a:r>
              <a:rPr dirty="0" sz="1000" spc="50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pitch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for</a:t>
            </a:r>
            <a:r>
              <a:rPr dirty="0" sz="1000" spc="50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making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asteroid</a:t>
            </a:r>
            <a:r>
              <a:rPr dirty="0" sz="1000" spc="50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mining</a:t>
            </a:r>
            <a:r>
              <a:rPr dirty="0" sz="1000" spc="50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E6B64"/>
                </a:solidFill>
                <a:latin typeface="Calibri"/>
                <a:cs typeface="Calibri"/>
              </a:rPr>
              <a:t>actually</a:t>
            </a:r>
            <a:r>
              <a:rPr dirty="0" sz="1000" spc="45" i="1">
                <a:solidFill>
                  <a:srgbClr val="5E6B64"/>
                </a:solidFill>
                <a:latin typeface="Calibri"/>
                <a:cs typeface="Calibri"/>
              </a:rPr>
              <a:t> </a:t>
            </a:r>
            <a:r>
              <a:rPr dirty="0" sz="1000" spc="-20" i="1">
                <a:solidFill>
                  <a:srgbClr val="5E6B64"/>
                </a:solidFill>
                <a:latin typeface="Calibri"/>
                <a:cs typeface="Calibri"/>
              </a:rPr>
              <a:t>pay.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How</a:t>
            </a:r>
            <a:r>
              <a:rPr dirty="0" sz="1250" spc="-1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the</a:t>
            </a:r>
            <a:r>
              <a:rPr dirty="0" sz="1250" spc="-1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system</a:t>
            </a:r>
            <a:r>
              <a:rPr dirty="0" sz="1250" spc="-1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C6B42"/>
                </a:solidFill>
                <a:latin typeface="Calibri"/>
                <a:cs typeface="Calibri"/>
              </a:rPr>
              <a:t>works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434520"/>
            <a:ext cx="6264275" cy="223520"/>
          </a:xfrm>
          <a:custGeom>
            <a:avLst/>
            <a:gdLst/>
            <a:ahLst/>
            <a:cxnLst/>
            <a:rect l="l" t="t" r="r" b="b"/>
            <a:pathLst>
              <a:path w="6264275" h="223519">
                <a:moveTo>
                  <a:pt x="6263999" y="0"/>
                </a:moveTo>
                <a:lnTo>
                  <a:pt x="0" y="0"/>
                </a:lnTo>
                <a:lnTo>
                  <a:pt x="0" y="223520"/>
                </a:lnTo>
                <a:lnTo>
                  <a:pt x="6263999" y="223520"/>
                </a:lnTo>
                <a:lnTo>
                  <a:pt x="6263999" y="0"/>
                </a:lnTo>
                <a:close/>
              </a:path>
            </a:pathLst>
          </a:custGeom>
          <a:solidFill>
            <a:srgbClr val="2D8A5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47999" y="1459920"/>
            <a:ext cx="6264275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20"/>
              </a:spcBef>
              <a:tabLst>
                <a:tab pos="1441450" algn="l"/>
              </a:tabLst>
            </a:pPr>
            <a:r>
              <a:rPr dirty="0" sz="900" spc="-25" b="1">
                <a:solidFill>
                  <a:srgbClr val="FFFFFF"/>
                </a:solidFill>
                <a:latin typeface="Calibri"/>
                <a:cs typeface="Calibri"/>
              </a:rPr>
              <a:t>Job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	How</a:t>
            </a:r>
            <a:r>
              <a:rPr dirty="0" sz="900" spc="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it's</a:t>
            </a:r>
            <a:r>
              <a:rPr dirty="0" sz="900" spc="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0" b="1">
                <a:solidFill>
                  <a:srgbClr val="FFFFFF"/>
                </a:solidFill>
                <a:latin typeface="Calibri"/>
                <a:cs typeface="Calibri"/>
              </a:rPr>
              <a:t>done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7999" y="1658040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 h="0">
                <a:moveTo>
                  <a:pt x="0" y="0"/>
                </a:moveTo>
                <a:lnTo>
                  <a:pt x="6263999" y="0"/>
                </a:lnTo>
              </a:path>
            </a:pathLst>
          </a:custGeom>
          <a:ln w="5080">
            <a:solidFill>
              <a:srgbClr val="CFE6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98799" y="1683440"/>
            <a:ext cx="662940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Getting</a:t>
            </a:r>
            <a:r>
              <a:rPr dirty="0" sz="9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there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76879" y="1676329"/>
            <a:ext cx="4662170" cy="320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95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Solar-electric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propulsion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for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efficient,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fuel-light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trip;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on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arrival,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cameras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navigation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sensors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map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surface,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then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slow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approach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mechanical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anchoring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999" y="2028880"/>
            <a:ext cx="6264275" cy="223520"/>
          </a:xfrm>
          <a:custGeom>
            <a:avLst/>
            <a:gdLst/>
            <a:ahLst/>
            <a:cxnLst/>
            <a:rect l="l" t="t" r="r" b="b"/>
            <a:pathLst>
              <a:path w="6264275" h="223519">
                <a:moveTo>
                  <a:pt x="6263999" y="0"/>
                </a:moveTo>
                <a:lnTo>
                  <a:pt x="0" y="0"/>
                </a:lnTo>
                <a:lnTo>
                  <a:pt x="0" y="223519"/>
                </a:lnTo>
                <a:lnTo>
                  <a:pt x="6263999" y="223519"/>
                </a:lnTo>
                <a:lnTo>
                  <a:pt x="6263999" y="0"/>
                </a:lnTo>
                <a:close/>
              </a:path>
            </a:pathLst>
          </a:custGeom>
          <a:solidFill>
            <a:srgbClr val="F6FB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47999" y="2475920"/>
            <a:ext cx="6264275" cy="223520"/>
          </a:xfrm>
          <a:custGeom>
            <a:avLst/>
            <a:gdLst/>
            <a:ahLst/>
            <a:cxnLst/>
            <a:rect l="l" t="t" r="r" b="b"/>
            <a:pathLst>
              <a:path w="6264275" h="223519">
                <a:moveTo>
                  <a:pt x="6263999" y="0"/>
                </a:moveTo>
                <a:lnTo>
                  <a:pt x="0" y="0"/>
                </a:lnTo>
                <a:lnTo>
                  <a:pt x="0" y="223520"/>
                </a:lnTo>
                <a:lnTo>
                  <a:pt x="6263999" y="223520"/>
                </a:lnTo>
                <a:lnTo>
                  <a:pt x="6263999" y="0"/>
                </a:lnTo>
                <a:close/>
              </a:path>
            </a:pathLst>
          </a:custGeom>
          <a:solidFill>
            <a:srgbClr val="F6FB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47999" y="2054280"/>
            <a:ext cx="6264275" cy="6127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20"/>
              </a:spcBef>
              <a:tabLst>
                <a:tab pos="1441450" algn="l"/>
              </a:tabLst>
            </a:pP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Water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	Drill</a:t>
            </a:r>
            <a:r>
              <a:rPr dirty="0" sz="900" spc="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into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ice,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heat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it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in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sealed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chamber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capture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vapour</a:t>
            </a:r>
            <a:endParaRPr sz="900">
              <a:latin typeface="Calibri"/>
              <a:cs typeface="Calibri"/>
            </a:endParaRPr>
          </a:p>
          <a:p>
            <a:pPr marL="63500" marR="2082164">
              <a:lnSpc>
                <a:spcPct val="163000"/>
              </a:lnSpc>
              <a:tabLst>
                <a:tab pos="1441450" algn="l"/>
              </a:tabLst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Iron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nickel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	Pull</a:t>
            </a:r>
            <a:r>
              <a:rPr dirty="0" sz="900" spc="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them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out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with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magnets,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then</a:t>
            </a:r>
            <a:r>
              <a:rPr dirty="0" sz="900" spc="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send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them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refinery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Platinum-group</a:t>
            </a:r>
            <a:r>
              <a:rPr dirty="0" sz="900" spc="5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metals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	Survey</a:t>
            </a:r>
            <a:r>
              <a:rPr dirty="0" sz="900" spc="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test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first;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only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extract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if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numbers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justify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2A2A2A"/>
                </a:solidFill>
                <a:latin typeface="Calibri"/>
                <a:cs typeface="Calibri"/>
              </a:rPr>
              <a:t>it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47999" y="2028880"/>
            <a:ext cx="6264275" cy="223520"/>
          </a:xfrm>
          <a:custGeom>
            <a:avLst/>
            <a:gdLst/>
            <a:ahLst/>
            <a:cxnLst/>
            <a:rect l="l" t="t" r="r" b="b"/>
            <a:pathLst>
              <a:path w="6264275" h="223519">
                <a:moveTo>
                  <a:pt x="0" y="0"/>
                </a:moveTo>
                <a:lnTo>
                  <a:pt x="6263999" y="0"/>
                </a:lnTo>
              </a:path>
              <a:path w="6264275" h="223519">
                <a:moveTo>
                  <a:pt x="0" y="223519"/>
                </a:moveTo>
                <a:lnTo>
                  <a:pt x="6263999" y="223519"/>
                </a:lnTo>
              </a:path>
            </a:pathLst>
          </a:custGeom>
          <a:ln w="5080">
            <a:solidFill>
              <a:srgbClr val="CFE6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47999" y="2475920"/>
            <a:ext cx="6264275" cy="223520"/>
          </a:xfrm>
          <a:custGeom>
            <a:avLst/>
            <a:gdLst/>
            <a:ahLst/>
            <a:cxnLst/>
            <a:rect l="l" t="t" r="r" b="b"/>
            <a:pathLst>
              <a:path w="6264275" h="223519">
                <a:moveTo>
                  <a:pt x="0" y="0"/>
                </a:moveTo>
                <a:lnTo>
                  <a:pt x="6263999" y="0"/>
                </a:lnTo>
              </a:path>
              <a:path w="6264275" h="223519">
                <a:moveTo>
                  <a:pt x="0" y="223520"/>
                </a:moveTo>
                <a:lnTo>
                  <a:pt x="6263999" y="223520"/>
                </a:lnTo>
              </a:path>
            </a:pathLst>
          </a:custGeom>
          <a:ln w="5080">
            <a:solidFill>
              <a:srgbClr val="CFE6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98799" y="2724840"/>
            <a:ext cx="530860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Processing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76879" y="2717729"/>
            <a:ext cx="4766310" cy="320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95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Do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just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enough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at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asteroid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cut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mass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being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hauled,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skip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anything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that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costs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more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2A2A2A"/>
                </a:solidFill>
                <a:latin typeface="Calibri"/>
                <a:cs typeface="Calibri"/>
              </a:rPr>
              <a:t>than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it</a:t>
            </a:r>
            <a:r>
              <a:rPr dirty="0" sz="900" spc="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saves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7999" y="3070280"/>
            <a:ext cx="6264275" cy="370840"/>
          </a:xfrm>
          <a:custGeom>
            <a:avLst/>
            <a:gdLst/>
            <a:ahLst/>
            <a:cxnLst/>
            <a:rect l="l" t="t" r="r" b="b"/>
            <a:pathLst>
              <a:path w="6264275" h="370839">
                <a:moveTo>
                  <a:pt x="6263999" y="0"/>
                </a:moveTo>
                <a:lnTo>
                  <a:pt x="0" y="0"/>
                </a:lnTo>
                <a:lnTo>
                  <a:pt x="0" y="370839"/>
                </a:lnTo>
                <a:lnTo>
                  <a:pt x="6263999" y="370839"/>
                </a:lnTo>
                <a:lnTo>
                  <a:pt x="6263999" y="0"/>
                </a:lnTo>
                <a:close/>
              </a:path>
            </a:pathLst>
          </a:custGeom>
          <a:solidFill>
            <a:srgbClr val="F6FB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11499" y="3095680"/>
            <a:ext cx="317500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Power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89579" y="3088567"/>
            <a:ext cx="4527550" cy="320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07400"/>
              </a:lnSpc>
              <a:spcBef>
                <a:spcPts val="95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Big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solar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arrays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sized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for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belt,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batteries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for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peak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demand,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mining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scheduled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around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power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available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47999" y="3070280"/>
            <a:ext cx="6264275" cy="370840"/>
          </a:xfrm>
          <a:custGeom>
            <a:avLst/>
            <a:gdLst/>
            <a:ahLst/>
            <a:cxnLst/>
            <a:rect l="l" t="t" r="r" b="b"/>
            <a:pathLst>
              <a:path w="6264275" h="370839">
                <a:moveTo>
                  <a:pt x="0" y="0"/>
                </a:moveTo>
                <a:lnTo>
                  <a:pt x="6263999" y="0"/>
                </a:lnTo>
              </a:path>
              <a:path w="6264275" h="370839">
                <a:moveTo>
                  <a:pt x="0" y="370839"/>
                </a:moveTo>
                <a:lnTo>
                  <a:pt x="6263999" y="370839"/>
                </a:lnTo>
              </a:path>
            </a:pathLst>
          </a:custGeom>
          <a:ln w="5080">
            <a:solidFill>
              <a:srgbClr val="CFE6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98799" y="3466520"/>
            <a:ext cx="1101090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Comms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autonomy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76879" y="3459407"/>
            <a:ext cx="4784725" cy="320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95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high-gain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antenna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with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low-gain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backup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onboard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storage.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Routine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work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is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handled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onboard;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1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big</a:t>
            </a:r>
            <a:r>
              <a:rPr dirty="0" sz="900" spc="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calls</a:t>
            </a:r>
            <a:r>
              <a:rPr dirty="0" sz="900" spc="1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go</a:t>
            </a:r>
            <a:r>
              <a:rPr dirty="0" sz="900" spc="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900" spc="1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Earth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47999" y="3811960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 h="0">
                <a:moveTo>
                  <a:pt x="0" y="0"/>
                </a:moveTo>
                <a:lnTo>
                  <a:pt x="6263999" y="0"/>
                </a:lnTo>
              </a:path>
            </a:pathLst>
          </a:custGeom>
          <a:ln w="5080">
            <a:solidFill>
              <a:srgbClr val="CFE6D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2" name="object 22"/>
          <p:cNvGrpSpPr/>
          <p:nvPr/>
        </p:nvGrpSpPr>
        <p:grpSpPr>
          <a:xfrm>
            <a:off x="647999" y="4820340"/>
            <a:ext cx="6264275" cy="226060"/>
            <a:chOff x="647999" y="4820340"/>
            <a:chExt cx="6264275" cy="226060"/>
          </a:xfrm>
        </p:grpSpPr>
        <p:sp>
          <p:nvSpPr>
            <p:cNvPr id="23" name="object 23"/>
            <p:cNvSpPr/>
            <p:nvPr/>
          </p:nvSpPr>
          <p:spPr>
            <a:xfrm>
              <a:off x="647999" y="4820340"/>
              <a:ext cx="6264275" cy="223520"/>
            </a:xfrm>
            <a:custGeom>
              <a:avLst/>
              <a:gdLst/>
              <a:ahLst/>
              <a:cxnLst/>
              <a:rect l="l" t="t" r="r" b="b"/>
              <a:pathLst>
                <a:path w="6264275" h="223520">
                  <a:moveTo>
                    <a:pt x="6263999" y="0"/>
                  </a:moveTo>
                  <a:lnTo>
                    <a:pt x="0" y="0"/>
                  </a:lnTo>
                  <a:lnTo>
                    <a:pt x="0" y="223520"/>
                  </a:lnTo>
                  <a:lnTo>
                    <a:pt x="6263999" y="223520"/>
                  </a:lnTo>
                  <a:lnTo>
                    <a:pt x="6263999" y="0"/>
                  </a:lnTo>
                  <a:close/>
                </a:path>
              </a:pathLst>
            </a:custGeom>
            <a:solidFill>
              <a:srgbClr val="2D8A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47999" y="5043860"/>
              <a:ext cx="6264275" cy="0"/>
            </a:xfrm>
            <a:custGeom>
              <a:avLst/>
              <a:gdLst/>
              <a:ahLst/>
              <a:cxnLst/>
              <a:rect l="l" t="t" r="r" b="b"/>
              <a:pathLst>
                <a:path w="6264275" h="0">
                  <a:moveTo>
                    <a:pt x="0" y="0"/>
                  </a:moveTo>
                  <a:lnTo>
                    <a:pt x="6263999" y="0"/>
                  </a:lnTo>
                </a:path>
              </a:pathLst>
            </a:custGeom>
            <a:ln w="5080">
              <a:solidFill>
                <a:srgbClr val="CFE6D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647999" y="5264840"/>
            <a:ext cx="6264275" cy="228600"/>
            <a:chOff x="647999" y="5264840"/>
            <a:chExt cx="6264275" cy="228600"/>
          </a:xfrm>
        </p:grpSpPr>
        <p:sp>
          <p:nvSpPr>
            <p:cNvPr id="26" name="object 26"/>
            <p:cNvSpPr/>
            <p:nvPr/>
          </p:nvSpPr>
          <p:spPr>
            <a:xfrm>
              <a:off x="647999" y="5267380"/>
              <a:ext cx="6264275" cy="223520"/>
            </a:xfrm>
            <a:custGeom>
              <a:avLst/>
              <a:gdLst/>
              <a:ahLst/>
              <a:cxnLst/>
              <a:rect l="l" t="t" r="r" b="b"/>
              <a:pathLst>
                <a:path w="6264275" h="223520">
                  <a:moveTo>
                    <a:pt x="6263999" y="0"/>
                  </a:moveTo>
                  <a:lnTo>
                    <a:pt x="0" y="0"/>
                  </a:lnTo>
                  <a:lnTo>
                    <a:pt x="0" y="223519"/>
                  </a:lnTo>
                  <a:lnTo>
                    <a:pt x="6263999" y="223519"/>
                  </a:lnTo>
                  <a:lnTo>
                    <a:pt x="6263999" y="0"/>
                  </a:lnTo>
                  <a:close/>
                </a:path>
              </a:pathLst>
            </a:custGeom>
            <a:solidFill>
              <a:srgbClr val="F6F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47999" y="5267380"/>
              <a:ext cx="6264275" cy="223520"/>
            </a:xfrm>
            <a:custGeom>
              <a:avLst/>
              <a:gdLst/>
              <a:ahLst/>
              <a:cxnLst/>
              <a:rect l="l" t="t" r="r" b="b"/>
              <a:pathLst>
                <a:path w="6264275" h="223520">
                  <a:moveTo>
                    <a:pt x="0" y="0"/>
                  </a:moveTo>
                  <a:lnTo>
                    <a:pt x="6263999" y="0"/>
                  </a:lnTo>
                </a:path>
                <a:path w="6264275" h="223520">
                  <a:moveTo>
                    <a:pt x="0" y="223519"/>
                  </a:moveTo>
                  <a:lnTo>
                    <a:pt x="6263999" y="223519"/>
                  </a:lnTo>
                </a:path>
              </a:pathLst>
            </a:custGeom>
            <a:ln w="5080">
              <a:solidFill>
                <a:srgbClr val="CFE6D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647999" y="5711880"/>
            <a:ext cx="6264275" cy="228600"/>
            <a:chOff x="647999" y="5711880"/>
            <a:chExt cx="6264275" cy="228600"/>
          </a:xfrm>
        </p:grpSpPr>
        <p:sp>
          <p:nvSpPr>
            <p:cNvPr id="29" name="object 29"/>
            <p:cNvSpPr/>
            <p:nvPr/>
          </p:nvSpPr>
          <p:spPr>
            <a:xfrm>
              <a:off x="647999" y="5714420"/>
              <a:ext cx="6264275" cy="223520"/>
            </a:xfrm>
            <a:custGeom>
              <a:avLst/>
              <a:gdLst/>
              <a:ahLst/>
              <a:cxnLst/>
              <a:rect l="l" t="t" r="r" b="b"/>
              <a:pathLst>
                <a:path w="6264275" h="223520">
                  <a:moveTo>
                    <a:pt x="6263999" y="0"/>
                  </a:moveTo>
                  <a:lnTo>
                    <a:pt x="0" y="0"/>
                  </a:lnTo>
                  <a:lnTo>
                    <a:pt x="0" y="223519"/>
                  </a:lnTo>
                  <a:lnTo>
                    <a:pt x="6263999" y="223519"/>
                  </a:lnTo>
                  <a:lnTo>
                    <a:pt x="6263999" y="0"/>
                  </a:lnTo>
                  <a:close/>
                </a:path>
              </a:pathLst>
            </a:custGeom>
            <a:solidFill>
              <a:srgbClr val="F6F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47999" y="5714420"/>
              <a:ext cx="6264275" cy="223520"/>
            </a:xfrm>
            <a:custGeom>
              <a:avLst/>
              <a:gdLst/>
              <a:ahLst/>
              <a:cxnLst/>
              <a:rect l="l" t="t" r="r" b="b"/>
              <a:pathLst>
                <a:path w="6264275" h="223520">
                  <a:moveTo>
                    <a:pt x="0" y="0"/>
                  </a:moveTo>
                  <a:lnTo>
                    <a:pt x="6263999" y="0"/>
                  </a:lnTo>
                </a:path>
                <a:path w="6264275" h="223520">
                  <a:moveTo>
                    <a:pt x="0" y="223519"/>
                  </a:moveTo>
                  <a:lnTo>
                    <a:pt x="6263999" y="223519"/>
                  </a:lnTo>
                </a:path>
              </a:pathLst>
            </a:custGeom>
            <a:ln w="5080">
              <a:solidFill>
                <a:srgbClr val="CFE6D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/>
          <p:nvPr/>
        </p:nvSpPr>
        <p:spPr>
          <a:xfrm>
            <a:off x="647999" y="6161460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 h="0">
                <a:moveTo>
                  <a:pt x="0" y="0"/>
                </a:moveTo>
                <a:lnTo>
                  <a:pt x="6263999" y="0"/>
                </a:lnTo>
              </a:path>
            </a:pathLst>
          </a:custGeom>
          <a:ln w="5080">
            <a:solidFill>
              <a:srgbClr val="CFE6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47999" y="6555160"/>
            <a:ext cx="6264275" cy="223520"/>
          </a:xfrm>
          <a:custGeom>
            <a:avLst/>
            <a:gdLst/>
            <a:ahLst/>
            <a:cxnLst/>
            <a:rect l="l" t="t" r="r" b="b"/>
            <a:pathLst>
              <a:path w="6264275" h="223520">
                <a:moveTo>
                  <a:pt x="6263999" y="0"/>
                </a:moveTo>
                <a:lnTo>
                  <a:pt x="0" y="0"/>
                </a:lnTo>
                <a:lnTo>
                  <a:pt x="0" y="223520"/>
                </a:lnTo>
                <a:lnTo>
                  <a:pt x="6263999" y="223520"/>
                </a:lnTo>
                <a:lnTo>
                  <a:pt x="6263999" y="0"/>
                </a:lnTo>
                <a:close/>
              </a:path>
            </a:pathLst>
          </a:custGeom>
          <a:solidFill>
            <a:srgbClr val="2D8A5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35299" y="3832788"/>
            <a:ext cx="6276975" cy="29133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9050">
              <a:lnSpc>
                <a:spcPct val="113300"/>
              </a:lnSpc>
              <a:spcBef>
                <a:spcPts val="95"/>
              </a:spcBef>
            </a:pP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4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spacecraft</a:t>
            </a:r>
            <a:r>
              <a:rPr dirty="0" sz="1000" spc="4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itself</a:t>
            </a:r>
            <a:r>
              <a:rPr dirty="0" sz="1000" spc="4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is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seven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modules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joined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end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end: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propulsion,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solar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power,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mining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(drills,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scoops,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material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handling),</a:t>
            </a:r>
            <a:r>
              <a:rPr dirty="0" sz="1000" spc="6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anchoring</a:t>
            </a:r>
            <a:r>
              <a:rPr dirty="0" sz="1000" spc="6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(SmartGrip),</a:t>
            </a:r>
            <a:r>
              <a:rPr dirty="0" sz="1000" spc="6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processing</a:t>
            </a:r>
            <a:r>
              <a:rPr dirty="0" sz="1000" spc="6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(a</a:t>
            </a:r>
            <a:r>
              <a:rPr dirty="0" sz="1000" spc="6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heating</a:t>
            </a:r>
            <a:r>
              <a:rPr dirty="0" sz="1000" spc="6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chamber</a:t>
            </a:r>
            <a:r>
              <a:rPr dirty="0" sz="1000" spc="6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plus</a:t>
            </a:r>
            <a:r>
              <a:rPr dirty="0" sz="1000" spc="6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metal</a:t>
            </a:r>
            <a:r>
              <a:rPr dirty="0" sz="1000" spc="6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concentration),</a:t>
            </a:r>
            <a:r>
              <a:rPr dirty="0" sz="1000" spc="6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storage</a:t>
            </a:r>
            <a:r>
              <a:rPr dirty="0" sz="1000" spc="6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(sealed</a:t>
            </a:r>
            <a:r>
              <a:rPr dirty="0" sz="1000" spc="6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water</a:t>
            </a:r>
            <a:r>
              <a:rPr dirty="0" sz="10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tanks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solid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containers),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comms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navigation.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In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hand-drawn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diagram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they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sit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in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line,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with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solar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panel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at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each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end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robotic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arm</a:t>
            </a:r>
            <a:r>
              <a:rPr dirty="0" sz="10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for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repairs.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100" b="1">
                <a:solidFill>
                  <a:srgbClr val="1C6B42"/>
                </a:solidFill>
                <a:latin typeface="Calibri"/>
                <a:cs typeface="Calibri"/>
              </a:rPr>
              <a:t>When</a:t>
            </a:r>
            <a:r>
              <a:rPr dirty="0" sz="1100" spc="-1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C6B42"/>
                </a:solidFill>
                <a:latin typeface="Calibri"/>
                <a:cs typeface="Calibri"/>
              </a:rPr>
              <a:t>things</a:t>
            </a:r>
            <a:r>
              <a:rPr dirty="0" sz="1100" spc="-1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C6B42"/>
                </a:solidFill>
                <a:latin typeface="Calibri"/>
                <a:cs typeface="Calibri"/>
              </a:rPr>
              <a:t>break</a:t>
            </a:r>
            <a:endParaRPr sz="1100">
              <a:latin typeface="Calibri"/>
              <a:cs typeface="Calibri"/>
            </a:endParaRPr>
          </a:p>
          <a:p>
            <a:pPr marL="76200">
              <a:lnSpc>
                <a:spcPct val="100000"/>
              </a:lnSpc>
              <a:spcBef>
                <a:spcPts val="800"/>
              </a:spcBef>
              <a:tabLst>
                <a:tab pos="1454150" algn="l"/>
              </a:tabLst>
            </a:pP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dirty="0" sz="90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dirty="0" sz="90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fails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	The</a:t>
            </a:r>
            <a:r>
              <a:rPr dirty="0" sz="900" spc="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900" spc="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does</a:t>
            </a:r>
            <a:r>
              <a:rPr dirty="0" sz="900" spc="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0" b="1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endParaRPr sz="900">
              <a:latin typeface="Calibri"/>
              <a:cs typeface="Calibri"/>
            </a:endParaRPr>
          </a:p>
          <a:p>
            <a:pPr marL="76200">
              <a:lnSpc>
                <a:spcPct val="100000"/>
              </a:lnSpc>
              <a:spcBef>
                <a:spcPts val="680"/>
              </a:spcBef>
              <a:tabLst>
                <a:tab pos="1454150" algn="l"/>
              </a:tabLst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Drill</a:t>
            </a:r>
            <a:r>
              <a:rPr dirty="0" sz="900" spc="1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2A2A2A"/>
                </a:solidFill>
                <a:latin typeface="Calibri"/>
                <a:cs typeface="Calibri"/>
              </a:rPr>
              <a:t>jam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	Stop</a:t>
            </a:r>
            <a:r>
              <a:rPr dirty="0" sz="900" spc="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try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controlled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recovery</a:t>
            </a:r>
            <a:endParaRPr sz="900">
              <a:latin typeface="Calibri"/>
              <a:cs typeface="Calibri"/>
            </a:endParaRPr>
          </a:p>
          <a:p>
            <a:pPr marL="76200">
              <a:lnSpc>
                <a:spcPct val="100000"/>
              </a:lnSpc>
              <a:spcBef>
                <a:spcPts val="680"/>
              </a:spcBef>
              <a:tabLst>
                <a:tab pos="1454150" algn="l"/>
              </a:tabLst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Anchor</a:t>
            </a:r>
            <a:r>
              <a:rPr dirty="0" sz="9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2A2A2A"/>
                </a:solidFill>
                <a:latin typeface="Calibri"/>
                <a:cs typeface="Calibri"/>
              </a:rPr>
              <a:t>slip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	Pause,</a:t>
            </a:r>
            <a:r>
              <a:rPr dirty="0" sz="900" spc="5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reassess,</a:t>
            </a:r>
            <a:r>
              <a:rPr dirty="0" sz="900" spc="5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reposition</a:t>
            </a:r>
            <a:endParaRPr sz="900">
              <a:latin typeface="Calibri"/>
              <a:cs typeface="Calibri"/>
            </a:endParaRPr>
          </a:p>
          <a:p>
            <a:pPr marL="76200">
              <a:lnSpc>
                <a:spcPct val="100000"/>
              </a:lnSpc>
              <a:spcBef>
                <a:spcPts val="680"/>
              </a:spcBef>
              <a:tabLst>
                <a:tab pos="1454150" algn="l"/>
              </a:tabLst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Power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2A2A2A"/>
                </a:solidFill>
                <a:latin typeface="Calibri"/>
                <a:cs typeface="Calibri"/>
              </a:rPr>
              <a:t>loss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	Batteries</a:t>
            </a:r>
            <a:r>
              <a:rPr dirty="0" sz="9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keep</a:t>
            </a:r>
            <a:r>
              <a:rPr dirty="0" sz="9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essentials</a:t>
            </a:r>
            <a:r>
              <a:rPr dirty="0" sz="900" spc="5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alive;</a:t>
            </a:r>
            <a:r>
              <a:rPr dirty="0" sz="9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non-critical</a:t>
            </a:r>
            <a:r>
              <a:rPr dirty="0" sz="9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systems</a:t>
            </a:r>
            <a:r>
              <a:rPr dirty="0" sz="900" spc="5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switch</a:t>
            </a:r>
            <a:r>
              <a:rPr dirty="0" sz="9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2A2A2A"/>
                </a:solidFill>
                <a:latin typeface="Calibri"/>
                <a:cs typeface="Calibri"/>
              </a:rPr>
              <a:t>off</a:t>
            </a:r>
            <a:endParaRPr sz="900">
              <a:latin typeface="Calibri"/>
              <a:cs typeface="Calibri"/>
            </a:endParaRPr>
          </a:p>
          <a:p>
            <a:pPr marL="76200" marR="2432050">
              <a:lnSpc>
                <a:spcPct val="163000"/>
              </a:lnSpc>
              <a:tabLst>
                <a:tab pos="1454150" algn="l"/>
              </a:tabLst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Comms</a:t>
            </a:r>
            <a:r>
              <a:rPr dirty="0" sz="900" spc="5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2A2A2A"/>
                </a:solidFill>
                <a:latin typeface="Calibri"/>
                <a:cs typeface="Calibri"/>
              </a:rPr>
              <a:t>loss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	Carry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on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with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safe,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pre-programmed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operations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Component</a:t>
            </a:r>
            <a:r>
              <a:rPr dirty="0" sz="900" spc="8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failure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	Isolate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module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rely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on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critical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redundancy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What</a:t>
            </a:r>
            <a:r>
              <a:rPr dirty="0" sz="1250" spc="-3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drives</a:t>
            </a:r>
            <a:r>
              <a:rPr dirty="0" sz="1250" spc="-2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the</a:t>
            </a:r>
            <a:r>
              <a:rPr dirty="0" sz="1250" spc="-2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spc="-20" b="1">
                <a:solidFill>
                  <a:srgbClr val="1C6B42"/>
                </a:solidFill>
                <a:latin typeface="Calibri"/>
                <a:cs typeface="Calibri"/>
              </a:rPr>
              <a:t>cost</a:t>
            </a:r>
            <a:endParaRPr sz="1250">
              <a:latin typeface="Calibri"/>
              <a:cs typeface="Calibri"/>
            </a:endParaRPr>
          </a:p>
          <a:p>
            <a:pPr marL="76200">
              <a:lnSpc>
                <a:spcPct val="100000"/>
              </a:lnSpc>
              <a:spcBef>
                <a:spcPts val="620"/>
              </a:spcBef>
              <a:tabLst>
                <a:tab pos="1829435" algn="l"/>
              </a:tabLst>
            </a:pP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Big</a:t>
            </a:r>
            <a:r>
              <a:rPr dirty="0" sz="900" spc="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0" b="1">
                <a:solidFill>
                  <a:srgbClr val="FFFFFF"/>
                </a:solidFill>
                <a:latin typeface="Calibri"/>
                <a:cs typeface="Calibri"/>
              </a:rPr>
              <a:t>cost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	How</a:t>
            </a:r>
            <a:r>
              <a:rPr dirty="0" sz="900" spc="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900" spc="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deck</a:t>
            </a:r>
            <a:r>
              <a:rPr dirty="0" sz="900" spc="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brings</a:t>
            </a:r>
            <a:r>
              <a:rPr dirty="0" sz="900" spc="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900" spc="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0" b="1">
                <a:solidFill>
                  <a:srgbClr val="FFFFFF"/>
                </a:solidFill>
                <a:latin typeface="Calibri"/>
                <a:cs typeface="Calibri"/>
              </a:rPr>
              <a:t>down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47999" y="6778680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 h="0">
                <a:moveTo>
                  <a:pt x="0" y="0"/>
                </a:moveTo>
                <a:lnTo>
                  <a:pt x="6263999" y="0"/>
                </a:lnTo>
              </a:path>
            </a:pathLst>
          </a:custGeom>
          <a:ln w="5080">
            <a:solidFill>
              <a:srgbClr val="CFE6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698799" y="6804080"/>
            <a:ext cx="1156970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1.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Launch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transport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452719" y="6796968"/>
            <a:ext cx="4404995" cy="320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95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Rideshare</a:t>
            </a:r>
            <a:r>
              <a:rPr dirty="0" sz="9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when</a:t>
            </a:r>
            <a:r>
              <a:rPr dirty="0" sz="900" spc="5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trajectories</a:t>
            </a:r>
            <a:r>
              <a:rPr dirty="0" sz="9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match,</a:t>
            </a:r>
            <a:r>
              <a:rPr dirty="0" sz="900" spc="5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</a:t>
            </a:r>
            <a:r>
              <a:rPr dirty="0" sz="9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optimised</a:t>
            </a:r>
            <a:r>
              <a:rPr dirty="0" sz="900" spc="5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target</a:t>
            </a:r>
            <a:r>
              <a:rPr dirty="0" sz="9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5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launch</a:t>
            </a:r>
            <a:r>
              <a:rPr dirty="0" sz="9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window,</a:t>
            </a:r>
            <a:r>
              <a:rPr dirty="0" sz="900" spc="5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solar-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electric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propulsion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cut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propellant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mass,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carrying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only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equipment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chosen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target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needs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47999" y="7149520"/>
            <a:ext cx="6264275" cy="518159"/>
          </a:xfrm>
          <a:custGeom>
            <a:avLst/>
            <a:gdLst/>
            <a:ahLst/>
            <a:cxnLst/>
            <a:rect l="l" t="t" r="r" b="b"/>
            <a:pathLst>
              <a:path w="6264275" h="518159">
                <a:moveTo>
                  <a:pt x="6263999" y="0"/>
                </a:moveTo>
                <a:lnTo>
                  <a:pt x="0" y="0"/>
                </a:lnTo>
                <a:lnTo>
                  <a:pt x="0" y="518159"/>
                </a:lnTo>
                <a:lnTo>
                  <a:pt x="6263999" y="518159"/>
                </a:lnTo>
                <a:lnTo>
                  <a:pt x="6263999" y="0"/>
                </a:lnTo>
                <a:close/>
              </a:path>
            </a:pathLst>
          </a:custGeom>
          <a:solidFill>
            <a:srgbClr val="F6FB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698799" y="7167808"/>
            <a:ext cx="1209675" cy="320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95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2.</a:t>
            </a:r>
            <a:r>
              <a:rPr dirty="0" sz="900" spc="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Mining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processing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equipment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452719" y="7167808"/>
            <a:ext cx="4222115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95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Modular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multi-task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robots,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survey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before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extracting,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concentrating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valuable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material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instead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of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hauling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waste,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no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full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refinery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on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board,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autonomous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monitoring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catch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problems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early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47999" y="7149520"/>
            <a:ext cx="6264275" cy="518159"/>
          </a:xfrm>
          <a:custGeom>
            <a:avLst/>
            <a:gdLst/>
            <a:ahLst/>
            <a:cxnLst/>
            <a:rect l="l" t="t" r="r" b="b"/>
            <a:pathLst>
              <a:path w="6264275" h="518159">
                <a:moveTo>
                  <a:pt x="0" y="0"/>
                </a:moveTo>
                <a:lnTo>
                  <a:pt x="6263999" y="0"/>
                </a:lnTo>
              </a:path>
              <a:path w="6264275" h="518159">
                <a:moveTo>
                  <a:pt x="0" y="518159"/>
                </a:moveTo>
                <a:lnTo>
                  <a:pt x="6263999" y="518159"/>
                </a:lnTo>
              </a:path>
            </a:pathLst>
          </a:custGeom>
          <a:ln w="5080">
            <a:solidFill>
              <a:srgbClr val="CFE6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698799" y="7693080"/>
            <a:ext cx="1348740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3.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Transport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operations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452719" y="7685968"/>
            <a:ext cx="4408805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95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Separate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useful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fractions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at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asteroid,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ship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only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recovered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water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concentrated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metal,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use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autonomous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fault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detection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safe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mode,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share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downstream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refining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with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other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missions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47999" y="8185840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 h="0">
                <a:moveTo>
                  <a:pt x="0" y="0"/>
                </a:moveTo>
                <a:lnTo>
                  <a:pt x="6263999" y="0"/>
                </a:lnTo>
              </a:path>
            </a:pathLst>
          </a:custGeom>
          <a:ln w="5080">
            <a:solidFill>
              <a:srgbClr val="CFE6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635299" y="8193968"/>
            <a:ext cx="6249035" cy="889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95"/>
              </a:spcBef>
            </a:pP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4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test</a:t>
            </a:r>
            <a:r>
              <a:rPr dirty="0" sz="1000" spc="4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that</a:t>
            </a:r>
            <a:r>
              <a:rPr dirty="0" sz="1000" spc="5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matters:</a:t>
            </a:r>
            <a:r>
              <a:rPr dirty="0" sz="1000" spc="4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Profit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=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Revenue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minus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Total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Costs,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counting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launch,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transport,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mining,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processing,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storage,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refining,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delivery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maintenance.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Only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go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ahead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if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selling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price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beats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full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cost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of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delivery,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with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safety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margin.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Compared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with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conventional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approach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(a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full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refinery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on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board,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raw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ore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shipped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home,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one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destination,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heavy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chemical-rocket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propellant),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Orbital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Fuel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concentrates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at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asteroid,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hauls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less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waste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keeps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its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equipment modular.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563300"/>
            <a:ext cx="4614545" cy="723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Orbital</a:t>
            </a:r>
            <a:r>
              <a:rPr dirty="0" sz="2100" spc="-1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Fuel:</a:t>
            </a:r>
            <a:r>
              <a:rPr dirty="0" sz="2100" spc="-1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who</a:t>
            </a:r>
            <a:r>
              <a:rPr dirty="0" sz="2100" spc="-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pays,</a:t>
            </a:r>
            <a:r>
              <a:rPr dirty="0" sz="2100" spc="-1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the</a:t>
            </a:r>
            <a:r>
              <a:rPr dirty="0" sz="2100" spc="-1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risks,</a:t>
            </a:r>
            <a:r>
              <a:rPr dirty="0" sz="2100" spc="-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C6B42"/>
                </a:solidFill>
                <a:latin typeface="Calibri"/>
                <a:cs typeface="Calibri"/>
              </a:rPr>
              <a:t>the</a:t>
            </a:r>
            <a:r>
              <a:rPr dirty="0" sz="2100" spc="-1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2100" spc="-20" b="1">
                <a:solidFill>
                  <a:srgbClr val="1C6B42"/>
                </a:solidFill>
                <a:latin typeface="Calibri"/>
                <a:cs typeface="Calibri"/>
              </a:rPr>
              <a:t>plan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What</a:t>
            </a:r>
            <a:r>
              <a:rPr dirty="0" sz="1250" spc="-2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gets</a:t>
            </a:r>
            <a:r>
              <a:rPr dirty="0" sz="1250" spc="-1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sold,</a:t>
            </a:r>
            <a:r>
              <a:rPr dirty="0" sz="1250" spc="-2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and</a:t>
            </a:r>
            <a:r>
              <a:rPr dirty="0" sz="1250" spc="-1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to</a:t>
            </a:r>
            <a:r>
              <a:rPr dirty="0" sz="1250" spc="-1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spc="-20" b="1">
                <a:solidFill>
                  <a:srgbClr val="1C6B42"/>
                </a:solidFill>
                <a:latin typeface="Calibri"/>
                <a:cs typeface="Calibri"/>
              </a:rPr>
              <a:t>whom</a:t>
            </a:r>
            <a:endParaRPr sz="125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47999" y="1312600"/>
          <a:ext cx="6340475" cy="1334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8505"/>
                <a:gridCol w="2169160"/>
                <a:gridCol w="2086610"/>
              </a:tblGrid>
              <a:tr h="2228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Resource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2D8A56"/>
                    </a:solidFill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Customers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2D8A56"/>
                    </a:solidFill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Where</a:t>
                      </a:r>
                      <a:r>
                        <a:rPr dirty="0" sz="900" spc="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</a:t>
                      </a:r>
                      <a:r>
                        <a:rPr dirty="0" sz="900" spc="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goes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2D8A5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63500" marR="177165">
                        <a:lnSpc>
                          <a:spcPct val="107400"/>
                        </a:lnSpc>
                        <a:spcBef>
                          <a:spcPts val="240"/>
                        </a:spcBef>
                      </a:pPr>
                      <a:r>
                        <a:rPr dirty="0" sz="900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Water</a:t>
                      </a:r>
                      <a:r>
                        <a:rPr dirty="0" sz="900" spc="30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ice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purified</a:t>
                      </a:r>
                      <a:r>
                        <a:rPr dirty="0" sz="900" spc="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life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support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900" spc="5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propellant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785" marR="383540">
                        <a:lnSpc>
                          <a:spcPct val="107400"/>
                        </a:lnSpc>
                        <a:spcBef>
                          <a:spcPts val="24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Orbital</a:t>
                      </a:r>
                      <a:r>
                        <a:rPr dirty="0" sz="900" spc="4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depots</a:t>
                      </a:r>
                      <a:r>
                        <a:rPr dirty="0" sz="900" spc="4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900" spc="4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stations;</a:t>
                      </a:r>
                      <a:r>
                        <a:rPr dirty="0" sz="900" spc="4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lunar</a:t>
                      </a:r>
                      <a:r>
                        <a:rPr dirty="0" sz="900" spc="5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missions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Sold</a:t>
                      </a:r>
                      <a:r>
                        <a:rPr dirty="0" sz="900" spc="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900" spc="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space</a:t>
                      </a:r>
                      <a:r>
                        <a:rPr dirty="0" sz="900" spc="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900" spc="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orbital</a:t>
                      </a:r>
                      <a:r>
                        <a:rPr dirty="0" sz="900" spc="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depots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Iron</a:t>
                      </a:r>
                      <a:r>
                        <a:rPr dirty="0" sz="900" spc="15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900" spc="20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nickel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900" spc="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concentrated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Spacecraft</a:t>
                      </a:r>
                      <a:r>
                        <a:rPr dirty="0" sz="900" spc="4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companies</a:t>
                      </a:r>
                      <a:r>
                        <a:rPr dirty="0" sz="900" spc="5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building</a:t>
                      </a:r>
                      <a:r>
                        <a:rPr dirty="0" sz="900" spc="4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900" spc="5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orbit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marL="145415" marR="176530">
                        <a:lnSpc>
                          <a:spcPct val="107400"/>
                        </a:lnSpc>
                        <a:spcBef>
                          <a:spcPts val="24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00" spc="4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shared</a:t>
                      </a:r>
                      <a:r>
                        <a:rPr dirty="0" sz="900" spc="5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space-based</a:t>
                      </a:r>
                      <a:r>
                        <a:rPr dirty="0" sz="900" spc="5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manufacturing</a:t>
                      </a:r>
                      <a:r>
                        <a:rPr dirty="0" sz="900" spc="5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facility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  <a:solidFill>
                      <a:srgbClr val="F6FBF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Platinum-group</a:t>
                      </a:r>
                      <a:r>
                        <a:rPr dirty="0" sz="900" spc="30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metals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900" spc="3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r>
                        <a:rPr dirty="0" sz="900" spc="3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value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PGM</a:t>
                      </a:r>
                      <a:r>
                        <a:rPr dirty="0" sz="900" spc="1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buyers,</a:t>
                      </a:r>
                      <a:r>
                        <a:rPr dirty="0" sz="900" spc="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if</a:t>
                      </a:r>
                      <a:r>
                        <a:rPr dirty="0" sz="900" spc="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price</a:t>
                      </a:r>
                      <a:r>
                        <a:rPr dirty="0" sz="900" spc="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900" spc="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competitive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 marR="125095">
                        <a:lnSpc>
                          <a:spcPct val="107400"/>
                        </a:lnSpc>
                        <a:spcBef>
                          <a:spcPts val="24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Back</a:t>
                      </a:r>
                      <a:r>
                        <a:rPr dirty="0" sz="900" spc="1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900" spc="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Earth</a:t>
                      </a:r>
                      <a:r>
                        <a:rPr dirty="0" sz="900" spc="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only</a:t>
                      </a:r>
                      <a:r>
                        <a:rPr dirty="0" sz="900" spc="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if</a:t>
                      </a:r>
                      <a:r>
                        <a:rPr dirty="0" sz="900" spc="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value</a:t>
                      </a:r>
                      <a:r>
                        <a:rPr dirty="0" sz="900" spc="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justifies</a:t>
                      </a:r>
                      <a:r>
                        <a:rPr dirty="0" sz="900" spc="5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trip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T w="6350">
                      <a:solidFill>
                        <a:srgbClr val="CFE6D8"/>
                      </a:solidFill>
                      <a:prstDash val="solid"/>
                    </a:lnT>
                    <a:lnB w="6350">
                      <a:solidFill>
                        <a:srgbClr val="CFE6D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647999" y="3880540"/>
            <a:ext cx="6264275" cy="223520"/>
          </a:xfrm>
          <a:custGeom>
            <a:avLst/>
            <a:gdLst/>
            <a:ahLst/>
            <a:cxnLst/>
            <a:rect l="l" t="t" r="r" b="b"/>
            <a:pathLst>
              <a:path w="6264275" h="223520">
                <a:moveTo>
                  <a:pt x="6263999" y="0"/>
                </a:moveTo>
                <a:lnTo>
                  <a:pt x="0" y="0"/>
                </a:lnTo>
                <a:lnTo>
                  <a:pt x="0" y="223519"/>
                </a:lnTo>
                <a:lnTo>
                  <a:pt x="6263999" y="223519"/>
                </a:lnTo>
                <a:lnTo>
                  <a:pt x="6263999" y="0"/>
                </a:lnTo>
                <a:close/>
              </a:path>
            </a:pathLst>
          </a:custGeom>
          <a:solidFill>
            <a:srgbClr val="2D8A5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35299" y="2656769"/>
            <a:ext cx="6289675" cy="1638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95"/>
              </a:spcBef>
            </a:pP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guiding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idea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is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simple: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send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each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resource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where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it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earns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most,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instead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of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shipping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everything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one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place.</a:t>
            </a:r>
            <a:r>
              <a:rPr dirty="0" sz="10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That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gives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three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ways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make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money.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Water</a:t>
            </a:r>
            <a:r>
              <a:rPr dirty="0" sz="1000" spc="3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goes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depots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other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space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customers,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priced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on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quantity,</a:t>
            </a:r>
            <a:r>
              <a:rPr dirty="0" sz="10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purity</a:t>
            </a:r>
            <a:r>
              <a:rPr dirty="0" sz="10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 an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agreed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rate.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Metal</a:t>
            </a:r>
            <a:r>
              <a:rPr dirty="0" sz="1000" spc="4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feedstock</a:t>
            </a:r>
            <a:r>
              <a:rPr dirty="0" sz="1000" spc="4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45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components</a:t>
            </a:r>
            <a:r>
              <a:rPr dirty="0" sz="1000" spc="4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go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shared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processing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facility,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moving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over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time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toward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finished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products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instead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of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raw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material.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platinum-group</a:t>
            </a:r>
            <a:r>
              <a:rPr dirty="0" sz="1000" spc="5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A2A2A"/>
                </a:solidFill>
                <a:latin typeface="Calibri"/>
                <a:cs typeface="Calibri"/>
              </a:rPr>
              <a:t>metals</a:t>
            </a:r>
            <a:r>
              <a:rPr dirty="0" sz="1000" spc="50" b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are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sold,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as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verified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concentrate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or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refined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metal,</a:t>
            </a:r>
            <a:r>
              <a:rPr dirty="0" sz="10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2A2A2A"/>
                </a:solidFill>
                <a:latin typeface="Calibri"/>
                <a:cs typeface="Calibri"/>
              </a:rPr>
              <a:t>only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when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assays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delivery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costs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actually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leave</a:t>
            </a:r>
            <a:r>
              <a:rPr dirty="0" sz="10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10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Calibri"/>
                <a:cs typeface="Calibri"/>
              </a:rPr>
              <a:t>profit.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What</a:t>
            </a:r>
            <a:r>
              <a:rPr dirty="0" sz="1250" spc="-2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could</a:t>
            </a:r>
            <a:r>
              <a:rPr dirty="0" sz="1250" spc="-2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go</a:t>
            </a:r>
            <a:r>
              <a:rPr dirty="0" sz="1250" spc="-2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C6B42"/>
                </a:solidFill>
                <a:latin typeface="Calibri"/>
                <a:cs typeface="Calibri"/>
              </a:rPr>
              <a:t>wrong</a:t>
            </a:r>
            <a:endParaRPr sz="1250">
              <a:latin typeface="Calibri"/>
              <a:cs typeface="Calibri"/>
            </a:endParaRPr>
          </a:p>
          <a:p>
            <a:pPr marL="76200">
              <a:lnSpc>
                <a:spcPct val="100000"/>
              </a:lnSpc>
              <a:spcBef>
                <a:spcPts val="620"/>
              </a:spcBef>
              <a:tabLst>
                <a:tab pos="2205355" algn="l"/>
              </a:tabLst>
            </a:pPr>
            <a:r>
              <a:rPr dirty="0" sz="900" spc="-20" b="1">
                <a:solidFill>
                  <a:srgbClr val="FFFFFF"/>
                </a:solidFill>
                <a:latin typeface="Calibri"/>
                <a:cs typeface="Calibri"/>
              </a:rPr>
              <a:t>Risk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	How</a:t>
            </a:r>
            <a:r>
              <a:rPr dirty="0" sz="900" spc="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900" spc="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deck</a:t>
            </a:r>
            <a:r>
              <a:rPr dirty="0" sz="900" spc="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handles</a:t>
            </a:r>
            <a:r>
              <a:rPr dirty="0" sz="900" spc="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5" b="1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endParaRPr sz="900">
              <a:latin typeface="Calibri"/>
              <a:cs typeface="Calibri"/>
            </a:endParaRPr>
          </a:p>
          <a:p>
            <a:pPr marL="76200">
              <a:lnSpc>
                <a:spcPct val="100000"/>
              </a:lnSpc>
              <a:spcBef>
                <a:spcPts val="680"/>
              </a:spcBef>
              <a:tabLst>
                <a:tab pos="2205355" algn="l"/>
              </a:tabLst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1.</a:t>
            </a:r>
            <a:r>
              <a:rPr dirty="0" sz="9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Uncertain</a:t>
            </a:r>
            <a:r>
              <a:rPr dirty="0" sz="9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resource</a:t>
            </a:r>
            <a:r>
              <a:rPr dirty="0" sz="900" spc="5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content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	Remote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surveys,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sample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analysis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prospecting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before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big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investment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47999" y="4104060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 h="0">
                <a:moveTo>
                  <a:pt x="0" y="0"/>
                </a:moveTo>
                <a:lnTo>
                  <a:pt x="6263999" y="0"/>
                </a:lnTo>
              </a:path>
            </a:pathLst>
          </a:custGeom>
          <a:ln w="5080">
            <a:solidFill>
              <a:srgbClr val="CFE6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47999" y="4327580"/>
            <a:ext cx="6264275" cy="370840"/>
          </a:xfrm>
          <a:custGeom>
            <a:avLst/>
            <a:gdLst/>
            <a:ahLst/>
            <a:cxnLst/>
            <a:rect l="l" t="t" r="r" b="b"/>
            <a:pathLst>
              <a:path w="6264275" h="370839">
                <a:moveTo>
                  <a:pt x="6263999" y="0"/>
                </a:moveTo>
                <a:lnTo>
                  <a:pt x="0" y="0"/>
                </a:lnTo>
                <a:lnTo>
                  <a:pt x="0" y="370840"/>
                </a:lnTo>
                <a:lnTo>
                  <a:pt x="6263999" y="370840"/>
                </a:lnTo>
                <a:lnTo>
                  <a:pt x="6263999" y="0"/>
                </a:lnTo>
                <a:close/>
              </a:path>
            </a:pathLst>
          </a:custGeom>
          <a:solidFill>
            <a:srgbClr val="F6FB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11499" y="4352980"/>
            <a:ext cx="1821814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2.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High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transport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processing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costs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41259" y="4345868"/>
            <a:ext cx="3720465" cy="320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07400"/>
              </a:lnSpc>
              <a:spcBef>
                <a:spcPts val="95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Optimise</a:t>
            </a:r>
            <a:r>
              <a:rPr dirty="0" sz="9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trajectories,</a:t>
            </a:r>
            <a:r>
              <a:rPr dirty="0" sz="900" spc="5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concentrate</a:t>
            </a:r>
            <a:r>
              <a:rPr dirty="0" sz="900" spc="5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material,</a:t>
            </a:r>
            <a:r>
              <a:rPr dirty="0" sz="900" spc="5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compare</a:t>
            </a:r>
            <a:r>
              <a:rPr dirty="0" sz="900" spc="5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total</a:t>
            </a:r>
            <a:r>
              <a:rPr dirty="0" sz="900" spc="5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delivered</a:t>
            </a:r>
            <a:r>
              <a:rPr dirty="0" sz="900" spc="5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cost</a:t>
            </a:r>
            <a:r>
              <a:rPr dirty="0" sz="900" spc="5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2A2A2A"/>
                </a:solidFill>
                <a:latin typeface="Calibri"/>
                <a:cs typeface="Calibri"/>
              </a:rPr>
              <a:t>with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alternatives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7999" y="4327580"/>
            <a:ext cx="6264275" cy="370840"/>
          </a:xfrm>
          <a:custGeom>
            <a:avLst/>
            <a:gdLst/>
            <a:ahLst/>
            <a:cxnLst/>
            <a:rect l="l" t="t" r="r" b="b"/>
            <a:pathLst>
              <a:path w="6264275" h="370839">
                <a:moveTo>
                  <a:pt x="0" y="0"/>
                </a:moveTo>
                <a:lnTo>
                  <a:pt x="6263999" y="0"/>
                </a:lnTo>
              </a:path>
              <a:path w="6264275" h="370839">
                <a:moveTo>
                  <a:pt x="0" y="370840"/>
                </a:moveTo>
                <a:lnTo>
                  <a:pt x="6263999" y="370840"/>
                </a:lnTo>
              </a:path>
            </a:pathLst>
          </a:custGeom>
          <a:ln w="5080">
            <a:solidFill>
              <a:srgbClr val="CFE6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98799" y="4723820"/>
            <a:ext cx="1596390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3.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Not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enough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customer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demand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28559" y="4723820"/>
            <a:ext cx="3858895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Find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customers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early,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seek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purchase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commitments,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scale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only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proven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demand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7999" y="4921940"/>
            <a:ext cx="6264275" cy="370840"/>
          </a:xfrm>
          <a:custGeom>
            <a:avLst/>
            <a:gdLst/>
            <a:ahLst/>
            <a:cxnLst/>
            <a:rect l="l" t="t" r="r" b="b"/>
            <a:pathLst>
              <a:path w="6264275" h="370839">
                <a:moveTo>
                  <a:pt x="6263999" y="0"/>
                </a:moveTo>
                <a:lnTo>
                  <a:pt x="0" y="0"/>
                </a:lnTo>
                <a:lnTo>
                  <a:pt x="0" y="370840"/>
                </a:lnTo>
                <a:lnTo>
                  <a:pt x="6263999" y="370840"/>
                </a:lnTo>
                <a:lnTo>
                  <a:pt x="6263999" y="0"/>
                </a:lnTo>
                <a:close/>
              </a:path>
            </a:pathLst>
          </a:custGeom>
          <a:solidFill>
            <a:srgbClr val="F6FB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11499" y="4947340"/>
            <a:ext cx="979805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4.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Equipment</a:t>
            </a:r>
            <a:r>
              <a:rPr dirty="0" sz="90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failure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41259" y="4940228"/>
            <a:ext cx="3452495" cy="320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07400"/>
              </a:lnSpc>
              <a:spcBef>
                <a:spcPts val="95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Modular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equipment,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autonomous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fault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detection,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safe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mode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critical</a:t>
            </a:r>
            <a:r>
              <a:rPr dirty="0" sz="9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redundancy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47999" y="4921940"/>
            <a:ext cx="6264275" cy="370840"/>
          </a:xfrm>
          <a:custGeom>
            <a:avLst/>
            <a:gdLst/>
            <a:ahLst/>
            <a:cxnLst/>
            <a:rect l="l" t="t" r="r" b="b"/>
            <a:pathLst>
              <a:path w="6264275" h="370839">
                <a:moveTo>
                  <a:pt x="0" y="0"/>
                </a:moveTo>
                <a:lnTo>
                  <a:pt x="6263999" y="0"/>
                </a:lnTo>
              </a:path>
              <a:path w="6264275" h="370839">
                <a:moveTo>
                  <a:pt x="0" y="370840"/>
                </a:moveTo>
                <a:lnTo>
                  <a:pt x="6263999" y="370840"/>
                </a:lnTo>
              </a:path>
            </a:pathLst>
          </a:custGeom>
          <a:ln w="5080">
            <a:solidFill>
              <a:srgbClr val="CFE6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98799" y="5318180"/>
            <a:ext cx="1591945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5.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Immature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space</a:t>
            </a:r>
            <a:r>
              <a:rPr dirty="0" sz="900" spc="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infrastructure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28559" y="5318180"/>
            <a:ext cx="4015740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Start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with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small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demo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mission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expand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as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infrastructure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dirty="0" sz="9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A2A2A"/>
                </a:solidFill>
                <a:latin typeface="Calibri"/>
                <a:cs typeface="Calibri"/>
              </a:rPr>
              <a:t>customers</a:t>
            </a:r>
            <a:r>
              <a:rPr dirty="0" sz="900" spc="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A2A2A"/>
                </a:solidFill>
                <a:latin typeface="Calibri"/>
                <a:cs typeface="Calibri"/>
              </a:rPr>
              <a:t>appear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47999" y="5516300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 h="0">
                <a:moveTo>
                  <a:pt x="0" y="0"/>
                </a:moveTo>
                <a:lnTo>
                  <a:pt x="6263999" y="0"/>
                </a:lnTo>
              </a:path>
            </a:pathLst>
          </a:custGeom>
          <a:ln w="5080">
            <a:solidFill>
              <a:srgbClr val="CFE6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35299" y="5605200"/>
            <a:ext cx="198882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The</a:t>
            </a:r>
            <a:r>
              <a:rPr dirty="0" sz="1250" spc="-2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road</a:t>
            </a:r>
            <a:r>
              <a:rPr dirty="0" sz="1250" spc="-2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to</a:t>
            </a:r>
            <a:r>
              <a:rPr dirty="0" sz="1250" spc="-2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profit,</a:t>
            </a:r>
            <a:r>
              <a:rPr dirty="0" sz="1250" spc="-15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in</a:t>
            </a:r>
            <a:r>
              <a:rPr dirty="0" sz="1250" spc="-2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6B42"/>
                </a:solidFill>
                <a:latin typeface="Calibri"/>
                <a:cs typeface="Calibri"/>
              </a:rPr>
              <a:t>six</a:t>
            </a:r>
            <a:r>
              <a:rPr dirty="0" sz="1250" spc="-20" b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C6B42"/>
                </a:solidFill>
                <a:latin typeface="Calibri"/>
                <a:cs typeface="Calibri"/>
              </a:rPr>
              <a:t>steps</a:t>
            </a:r>
            <a:endParaRPr sz="1250">
              <a:latin typeface="Calibri"/>
              <a:cs typeface="Calibri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647999" y="5846500"/>
          <a:ext cx="6340475" cy="1136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904"/>
                <a:gridCol w="1800225"/>
                <a:gridCol w="266700"/>
                <a:gridCol w="1710055"/>
                <a:gridCol w="356870"/>
                <a:gridCol w="1873885"/>
              </a:tblGrid>
              <a:tr h="568325">
                <a:tc>
                  <a:txBody>
                    <a:bodyPr/>
                    <a:lstStyle/>
                    <a:p>
                      <a:pPr algn="ctr" marR="4953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500" spc="-50" b="1">
                          <a:solidFill>
                            <a:srgbClr val="2D8A56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6350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DF6F0"/>
                    </a:solidFill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900" spc="-10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Prospect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107950" marR="53975">
                        <a:lnSpc>
                          <a:spcPct val="107400"/>
                        </a:lnSpc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Find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900" spc="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asteroid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confirm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what</a:t>
                      </a:r>
                      <a:r>
                        <a:rPr dirty="0" sz="900" spc="5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it</a:t>
                      </a:r>
                      <a:r>
                        <a:rPr dirty="0" sz="900" spc="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holds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604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DF6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81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500" spc="-50" b="1">
                          <a:solidFill>
                            <a:srgbClr val="2D8A56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6350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DF6F0"/>
                    </a:solidFill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900" spc="-10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Demonstrate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107950" marR="170180">
                        <a:lnSpc>
                          <a:spcPct val="107400"/>
                        </a:lnSpc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r>
                        <a:rPr dirty="0" sz="900" spc="5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small-scale</a:t>
                      </a:r>
                      <a:r>
                        <a:rPr dirty="0" sz="900" spc="5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extraction,</a:t>
                      </a:r>
                      <a:r>
                        <a:rPr dirty="0" sz="900" spc="5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anchoring</a:t>
                      </a:r>
                      <a:r>
                        <a:rPr dirty="0" sz="900" spc="4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900" spc="5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water</a:t>
                      </a:r>
                      <a:r>
                        <a:rPr dirty="0" sz="900" spc="4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recovery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604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DF6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381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500" spc="-50" b="1">
                          <a:solidFill>
                            <a:srgbClr val="2D8A56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6350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DF6F0"/>
                    </a:solidFill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900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Secure</a:t>
                      </a:r>
                      <a:r>
                        <a:rPr dirty="0" sz="900" spc="50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customers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107950" marR="436880">
                        <a:lnSpc>
                          <a:spcPct val="107400"/>
                        </a:lnSpc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Confirm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specs,</a:t>
                      </a:r>
                      <a:r>
                        <a:rPr dirty="0" sz="900" spc="3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demand</a:t>
                      </a:r>
                      <a:r>
                        <a:rPr dirty="0" sz="900" spc="3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900" spc="5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expected</a:t>
                      </a:r>
                      <a:r>
                        <a:rPr dirty="0" sz="900" spc="6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prices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604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DF6F0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pPr algn="ctr" marR="4953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500" spc="-50" b="1">
                          <a:solidFill>
                            <a:srgbClr val="2D8A56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63500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EDF6F0"/>
                    </a:solidFill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900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Deliver</a:t>
                      </a:r>
                      <a:r>
                        <a:rPr dirty="0" sz="900" spc="25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00" spc="25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r>
                        <a:rPr dirty="0" sz="900" spc="30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batch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10795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Prove</a:t>
                      </a:r>
                      <a:r>
                        <a:rPr dirty="0" sz="900" spc="3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transport</a:t>
                      </a:r>
                      <a:r>
                        <a:rPr dirty="0" sz="900" spc="3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900" spc="3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delivery</a:t>
                      </a:r>
                      <a:r>
                        <a:rPr dirty="0" sz="900" spc="4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work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6040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EDF6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81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500" spc="-50" b="1">
                          <a:solidFill>
                            <a:srgbClr val="2D8A56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63500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EDF6F0"/>
                    </a:solidFill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900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Validate</a:t>
                      </a:r>
                      <a:r>
                        <a:rPr dirty="0" sz="900" spc="30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economics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107950" marR="144145">
                        <a:lnSpc>
                          <a:spcPct val="107400"/>
                        </a:lnSpc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Weigh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every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cost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against</a:t>
                      </a:r>
                      <a:r>
                        <a:rPr dirty="0" sz="900" spc="3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what</a:t>
                      </a:r>
                      <a:r>
                        <a:rPr dirty="0" sz="900" spc="5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customers</a:t>
                      </a:r>
                      <a:r>
                        <a:rPr dirty="0" sz="900" spc="4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will</a:t>
                      </a:r>
                      <a:r>
                        <a:rPr dirty="0" sz="900" spc="4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pay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6040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EDF6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381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500" spc="-50" b="1">
                          <a:solidFill>
                            <a:srgbClr val="2D8A56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63500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EDF6F0"/>
                    </a:solidFill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900" spc="-10" b="1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Scale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107950" marR="139700">
                        <a:lnSpc>
                          <a:spcPct val="107400"/>
                        </a:lnSpc>
                      </a:pP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Expand</a:t>
                      </a:r>
                      <a:r>
                        <a:rPr dirty="0" sz="900" spc="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only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when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it's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reliable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900" spc="5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revenue</a:t>
                      </a:r>
                      <a:r>
                        <a:rPr dirty="0" sz="900" spc="3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beats</a:t>
                      </a:r>
                      <a:r>
                        <a:rPr dirty="0" sz="900" spc="3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lifecycle</a:t>
                      </a:r>
                      <a:r>
                        <a:rPr dirty="0" sz="900" spc="35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cost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6040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EDF6F0"/>
                    </a:solidFill>
                  </a:tcPr>
                </a:tc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635299" y="7136820"/>
            <a:ext cx="628967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i="1">
                <a:solidFill>
                  <a:srgbClr val="1C6B42"/>
                </a:solidFill>
                <a:latin typeface="Calibri"/>
                <a:cs typeface="Calibri"/>
              </a:rPr>
              <a:t>The</a:t>
            </a:r>
            <a:r>
              <a:rPr dirty="0" sz="1000" spc="45" i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C6B42"/>
                </a:solidFill>
                <a:latin typeface="Calibri"/>
                <a:cs typeface="Calibri"/>
              </a:rPr>
              <a:t>deck</a:t>
            </a:r>
            <a:r>
              <a:rPr dirty="0" sz="1000" spc="45" i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C6B42"/>
                </a:solidFill>
                <a:latin typeface="Calibri"/>
                <a:cs typeface="Calibri"/>
              </a:rPr>
              <a:t>sums</a:t>
            </a:r>
            <a:r>
              <a:rPr dirty="0" sz="1000" spc="50" i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C6B42"/>
                </a:solidFill>
                <a:latin typeface="Calibri"/>
                <a:cs typeface="Calibri"/>
              </a:rPr>
              <a:t>it</a:t>
            </a:r>
            <a:r>
              <a:rPr dirty="0" sz="1000" spc="45" i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C6B42"/>
                </a:solidFill>
                <a:latin typeface="Calibri"/>
                <a:cs typeface="Calibri"/>
              </a:rPr>
              <a:t>up</a:t>
            </a:r>
            <a:r>
              <a:rPr dirty="0" sz="1000" spc="50" i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C6B42"/>
                </a:solidFill>
                <a:latin typeface="Calibri"/>
                <a:cs typeface="Calibri"/>
              </a:rPr>
              <a:t>well:</a:t>
            </a:r>
            <a:r>
              <a:rPr dirty="0" sz="1000" spc="45" i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C6B42"/>
                </a:solidFill>
                <a:latin typeface="Calibri"/>
                <a:cs typeface="Calibri"/>
              </a:rPr>
              <a:t>mine</a:t>
            </a:r>
            <a:r>
              <a:rPr dirty="0" sz="1000" spc="50" i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C6B42"/>
                </a:solidFill>
                <a:latin typeface="Calibri"/>
                <a:cs typeface="Calibri"/>
              </a:rPr>
              <a:t>selectively,</a:t>
            </a:r>
            <a:r>
              <a:rPr dirty="0" sz="1000" spc="45" i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C6B42"/>
                </a:solidFill>
                <a:latin typeface="Calibri"/>
                <a:cs typeface="Calibri"/>
              </a:rPr>
              <a:t>transport</a:t>
            </a:r>
            <a:r>
              <a:rPr dirty="0" sz="1000" spc="45" i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C6B42"/>
                </a:solidFill>
                <a:latin typeface="Calibri"/>
                <a:cs typeface="Calibri"/>
              </a:rPr>
              <a:t>less</a:t>
            </a:r>
            <a:r>
              <a:rPr dirty="0" sz="1000" spc="50" i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C6B42"/>
                </a:solidFill>
                <a:latin typeface="Calibri"/>
                <a:cs typeface="Calibri"/>
              </a:rPr>
              <a:t>waste,</a:t>
            </a:r>
            <a:r>
              <a:rPr dirty="0" sz="1000" spc="45" i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C6B42"/>
                </a:solidFill>
                <a:latin typeface="Calibri"/>
                <a:cs typeface="Calibri"/>
              </a:rPr>
              <a:t>operate</a:t>
            </a:r>
            <a:r>
              <a:rPr dirty="0" sz="1000" spc="50" i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C6B42"/>
                </a:solidFill>
                <a:latin typeface="Calibri"/>
                <a:cs typeface="Calibri"/>
              </a:rPr>
              <a:t>autonomously,</a:t>
            </a:r>
            <a:r>
              <a:rPr dirty="0" sz="1000" spc="45" i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C6B42"/>
                </a:solidFill>
                <a:latin typeface="Calibri"/>
                <a:cs typeface="Calibri"/>
              </a:rPr>
              <a:t>and</a:t>
            </a:r>
            <a:r>
              <a:rPr dirty="0" sz="1000" spc="50" i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C6B42"/>
                </a:solidFill>
                <a:latin typeface="Calibri"/>
                <a:cs typeface="Calibri"/>
              </a:rPr>
              <a:t>sell</a:t>
            </a:r>
            <a:r>
              <a:rPr dirty="0" sz="1000" spc="45" i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C6B42"/>
                </a:solidFill>
                <a:latin typeface="Calibri"/>
                <a:cs typeface="Calibri"/>
              </a:rPr>
              <a:t>where</a:t>
            </a:r>
            <a:r>
              <a:rPr dirty="0" sz="1000" spc="45" i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C6B42"/>
                </a:solidFill>
                <a:latin typeface="Calibri"/>
                <a:cs typeface="Calibri"/>
              </a:rPr>
              <a:t>value</a:t>
            </a:r>
            <a:r>
              <a:rPr dirty="0" sz="1000" spc="50" i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C6B42"/>
                </a:solidFill>
                <a:latin typeface="Calibri"/>
                <a:cs typeface="Calibri"/>
              </a:rPr>
              <a:t>is</a:t>
            </a:r>
            <a:r>
              <a:rPr dirty="0" sz="1000" spc="45" i="1">
                <a:solidFill>
                  <a:srgbClr val="1C6B42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1C6B42"/>
                </a:solidFill>
                <a:latin typeface="Calibri"/>
                <a:cs typeface="Calibri"/>
              </a:rPr>
              <a:t>greatest.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(anonymous)</dc:creator>
  <dc:subject>(unspecified)</dc:subject>
  <dc:title>Three reports, one quick read</dc:title>
  <dcterms:created xsi:type="dcterms:W3CDTF">2026-10-25T06:47:01Z</dcterms:created>
  <dcterms:modified xsi:type="dcterms:W3CDTF">2026-10-25T06:47:01Z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2026-10-25T00:00:00Z</vt:filetime>
  </property>
  <property fmtid="{D5CDD505-2E9C-101B-9397-08002B2CF9AE}" pid="4" name="Creator">
    <vt:lpwstr>(unspecified)</vt:lpwstr>
  </property>
  <property fmtid="{D5CDD505-2E9C-101B-9397-08002B2CF9AE}" pid="5" name="LastSaved">
    <vt:filetime>2026-10-25T00:00:00Z</vt:filetime>
  </property>
  <property fmtid="{D5CDD505-2E9C-101B-9397-08002B2CF9AE}" pid="6" name="Producer">
    <vt:lpwstr>ReportLab PDF Library - (opensource)</vt:lpwstr>
  </property>
</Properties>
</file>